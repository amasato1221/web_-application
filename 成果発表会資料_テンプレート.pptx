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c4c32323-72ee-389c-423b-8b3bced00f63}">
          <p14:sldIdLst>
            <p14:sldId id="256"/>
          </p14:sldIdLst>
        </p14:section>
        <p14:section name="導入" id="{15071c26-9b6f-3db1-0520-82cc17c35d7e}">
          <p14:sldIdLst>
            <p14:sldId id="257"/>
          </p14:sldIdLst>
        </p14:section>
        <p14:section name="システム概要" id="{925f0779-aa90-e7ad-9af3-41d91519bdfd}">
          <p14:sldIdLst>
            <p14:sldId id="258"/>
            <p14:sldId id="259"/>
            <p14:sldId id="260"/>
            <p14:sldId id="261"/>
          </p14:sldIdLst>
        </p14:section>
        <p14:section name="デモンストレーション" id="{ff06e2e6-115a-c167-79f8-ec19c863271e}">
          <p14:sldIdLst>
            <p14:sldId id="262"/>
            <p14:sldId id="263"/>
          </p14:sldIdLst>
        </p14:section>
        <p14:section name="振り返り" id="{e7ca8e21-4878-73c9-b43d-8a341f1e046f}">
          <p14:sldIdLst>
            <p14:sldId id="264"/>
            <p14:sldId id="265"/>
            <p14:sldId id="266"/>
            <p14:sldId id="267"/>
          </p14:sldIdLst>
        </p14:section>
        <p14:section name="要望・まとめ" id="{792b659b-a332-fe6a-4722-401fecf1a14c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【担当：リーダー／目安 0.5分】
チーム名とメンバーを紹介する。全員がホワイトボード前に並び、一人ずつ名乗る。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【担当：司会／目安 0.5分】
時間配分は目安。リハーサルで計測し、8〜12分に収まるよう調整すること。
2チーム目以降は「システム概要は省略します」と伝えて次へ進む。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1.5分】※最初のチームのみ発表
・誰が何のために使うシステムかを最初に伝える。
・構成図を指しながら「ブラウザ→Tomcat上のServlet/JSP→MySQL」の流れを説明する。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含む1.5分】
・番号1〜5が必須機能、それ以降が追加課題。
・追加課題の表示は記入シートの「追加課題 &gt; 実装した」で切り替わる。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含む1.5分】
・クラス図の構成に沿って、servlet→model（Logic）→dao の順に呼び出される流れを伝える。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含む1.5分】
・工程の区切りはWBSの予定コマ。実績が大きくずれた工程があれば一言触れる。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2.5分】
・事前にTomcat・MySQLを起動し、ログイン画面を開いておく。
・まずエラー画面を見せてから正しくログインすると、入力チェックの説明になる。
・登録した従業員をそのまま削除すると、デモ後にデータが元に戻る。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1.5分】
・独自に追加した機能（入力チェックの強化、画面デザインなど）があれば、ここで見せる。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1分】
・「何を学んだか」に加えて「どの場面でそう感じたか」を一言添えると伝わりやすい。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1分】
・チーム運営面（分担、スケジュール、マージ時の衝突など）の苦労があれば1件入れるとバランスがよい。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1分】
・数字はテスト仕様書兼結果報告書の最終版に合わせる。
・チーム独自の工夫は、デモで見せた画面と結びつけると印象に残る。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【担当：全員／目安 2分（1人30秒）】
・スライドには要点だけ書き、詳しくは口頭で話す。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【目安 1分】
・不満ではなく「こうなると良い」という提案の形で伝える。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【担当：リーダー／目安 0.5分】
全員で礼をして締める。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B3C49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プロジェクト型演習（JavaWeb）成果発表会　｜　従業員情報管理システム empsys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講座名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6"/>
                </a:solidFill>
              </a:rPr>
              <a:t>プロジェクト型演習（JavaWeb）成果発表会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従業員情報管理システム empsys</a:t>
            </a:r>
            <a:endParaRPr lang="en-US" sz="3600" dirty="0"/>
          </a:p>
        </p:txBody>
      </p:sp>
      <p:sp>
        <p:nvSpPr>
          <p:cNvPr id="4" name="チーム名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チーム名：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F班</a:t>
            </a:r>
            <a:endParaRPr lang="en-US" sz="1600" dirty="0"/>
          </a:p>
        </p:txBody>
      </p:sp>
      <p:sp>
        <p:nvSpPr>
          <p:cNvPr id="5" name="メンバー"/>
          <p:cNvSpPr txBox="1"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メンバー：</a:t>
            </a:r>
            <a:pPr indent="0" marL="0">
              <a:buNone/>
            </a:pPr>
            <a:r>
              <a:rPr lang="en-US" sz="1600" i="1" dirty="0">
                <a:solidFill>
                  <a:srgbClr val="FDBA74"/>
                </a:solidFill>
              </a:rPr>
              <a:t>【記入】氏名1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（リーダー）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／</a:t>
            </a:r>
            <a:pPr indent="0" marL="0">
              <a:buNone/>
            </a:pPr>
            <a:r>
              <a:rPr lang="en-US" sz="1600" i="1" dirty="0">
                <a:solidFill>
                  <a:srgbClr val="FDBA74"/>
                </a:solidFill>
              </a:rPr>
              <a:t>【記入】氏名2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／</a:t>
            </a:r>
            <a:pPr indent="0" marL="0">
              <a:buNone/>
            </a:pPr>
            <a:r>
              <a:rPr lang="en-US" sz="1600" i="1" dirty="0">
                <a:solidFill>
                  <a:srgbClr val="FDBA74"/>
                </a:solidFill>
              </a:rPr>
              <a:t>【記入】氏名3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／</a:t>
            </a:r>
            <a:pPr indent="0" marL="0">
              <a:buNone/>
            </a:pPr>
            <a:r>
              <a:rPr lang="en-US" sz="1600" i="1" dirty="0">
                <a:solidFill>
                  <a:srgbClr val="FDBA74"/>
                </a:solidFill>
              </a:rPr>
              <a:t>【記入】氏名4</a:t>
            </a:r>
            <a:endParaRPr lang="en-US" sz="1600" dirty="0"/>
          </a:p>
        </p:txBody>
      </p:sp>
      <p:sp>
        <p:nvSpPr>
          <p:cNvPr id="6" name="発表日"/>
          <p:cNvSpPr txBox="1"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発表日：</a:t>
            </a:r>
            <a:pPr indent="0" marL="0">
              <a:buNone/>
            </a:pPr>
            <a:r>
              <a:rPr lang="en-US" sz="1600" i="1" dirty="0">
                <a:solidFill>
                  <a:srgbClr val="FDBA74"/>
                </a:solidFill>
              </a:rPr>
              <a:t>【記入】2026年○月○日</a:t>
            </a:r>
            <a:endParaRPr lang="en-US" sz="1600" dirty="0"/>
          </a:p>
        </p:txBody>
      </p:sp>
      <p:sp>
        <p:nvSpPr>
          <p:cNvPr id="7" name="注意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3C9"/>
                </a:solidFill>
              </a:rPr>
              <a:t>この資料は記入シート.yml から自動で作られています。内容の修正は記入シートで行ってください。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発表の流れ</a:t>
            </a:r>
            <a:endParaRPr lang="en-US" sz="2400" dirty="0"/>
          </a:p>
        </p:txBody>
      </p:sp>
      <p:sp>
        <p:nvSpPr>
          <p:cNvPr id="3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1チーム 8〜12分。全員がホワイトボード前に出て発表します</a:t>
            </a:r>
            <a:endParaRPr lang="en-US" sz="1300" dirty="0"/>
          </a:p>
        </p:txBody>
      </p:sp>
      <p:graphicFrame>
        <p:nvGraphicFramePr>
          <p:cNvPr id="3" name="時間配分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108960"/>
                <a:gridCol w="1005840"/>
                <a:gridCol w="14630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目安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担当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備考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システム概要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1.5分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</a:rPr>
                        <a:t>【記入】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※最初のチームのみ発表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デモンストレーション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</a:rPr>
                        <a:t>【記入】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基本ルート＋追加課題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学んだこと／苦労したこと／工夫点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3分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</a:rPr>
                        <a:t>【記入】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個人ごとの感想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2分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全員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1人30秒程度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今後の授業への要望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1分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C2410C"/>
                          </a:solidFill>
                        </a:rPr>
                        <a:t>【記入】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合計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約11.5分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概要なしは約10分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システム概要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総務部の社員が、従業員情報をWebブラウザから閲覧・登録・削除するシステム</a:t>
            </a:r>
            <a:endParaRPr lang="en-US" sz="1300" dirty="0"/>
          </a:p>
        </p:txBody>
      </p:sp>
      <p:sp>
        <p:nvSpPr>
          <p:cNvPr id="5" name="構成_利用者"/>
          <p:cNvSpPr/>
          <p:nvPr/>
        </p:nvSpPr>
        <p:spPr>
          <a:xfrm>
            <a:off x="457200" y="13716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6" name="構成名_利用者"/>
          <p:cNvSpPr txBox="1"/>
          <p:nvPr/>
        </p:nvSpPr>
        <p:spPr>
          <a:xfrm>
            <a:off x="45720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利用者</a:t>
            </a:r>
            <a:endParaRPr lang="en-US" sz="1500" dirty="0"/>
          </a:p>
        </p:txBody>
      </p:sp>
      <p:sp>
        <p:nvSpPr>
          <p:cNvPr id="7" name="構成説明_利用者"/>
          <p:cNvSpPr txBox="1"/>
          <p:nvPr/>
        </p:nvSpPr>
        <p:spPr>
          <a:xfrm>
            <a:off x="457200" y="1828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総務部の社員</a:t>
            </a:r>
            <a:endParaRPr lang="en-US" sz="1200" dirty="0"/>
          </a:p>
        </p:txBody>
      </p:sp>
      <p:sp>
        <p:nvSpPr>
          <p:cNvPr id="8" name="矢印1"/>
          <p:cNvSpPr/>
          <p:nvPr/>
        </p:nvSpPr>
        <p:spPr>
          <a:xfrm>
            <a:off x="2221992" y="1828800"/>
            <a:ext cx="292608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構成_Webブラウザ"/>
          <p:cNvSpPr/>
          <p:nvPr/>
        </p:nvSpPr>
        <p:spPr>
          <a:xfrm>
            <a:off x="2587752" y="13716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EEF4F5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0" name="構成名_Webブラウザ"/>
          <p:cNvSpPr txBox="1"/>
          <p:nvPr/>
        </p:nvSpPr>
        <p:spPr>
          <a:xfrm>
            <a:off x="2587752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Webブラウザ</a:t>
            </a:r>
            <a:endParaRPr lang="en-US" sz="1500" dirty="0"/>
          </a:p>
        </p:txBody>
      </p:sp>
      <p:sp>
        <p:nvSpPr>
          <p:cNvPr id="11" name="構成説明_Webブラウザ"/>
          <p:cNvSpPr txBox="1"/>
          <p:nvPr/>
        </p:nvSpPr>
        <p:spPr>
          <a:xfrm>
            <a:off x="2587752" y="1828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画面操作</a:t>
            </a:r>
            <a:endParaRPr lang="en-US" sz="1200" dirty="0"/>
          </a:p>
        </p:txBody>
      </p:sp>
      <p:sp>
        <p:nvSpPr>
          <p:cNvPr id="12" name="矢印2"/>
          <p:cNvSpPr/>
          <p:nvPr/>
        </p:nvSpPr>
        <p:spPr>
          <a:xfrm>
            <a:off x="4352544" y="1828800"/>
            <a:ext cx="292608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構成_Webサーバ"/>
          <p:cNvSpPr/>
          <p:nvPr/>
        </p:nvSpPr>
        <p:spPr>
          <a:xfrm>
            <a:off x="4718304" y="13716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EEF4F5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4" name="構成名_Webサーバ"/>
          <p:cNvSpPr txBox="1"/>
          <p:nvPr/>
        </p:nvSpPr>
        <p:spPr>
          <a:xfrm>
            <a:off x="4718304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Webサーバ</a:t>
            </a:r>
            <a:endParaRPr lang="en-US" sz="1500" dirty="0"/>
          </a:p>
        </p:txBody>
      </p:sp>
      <p:sp>
        <p:nvSpPr>
          <p:cNvPr id="15" name="構成説明_Webサーバ"/>
          <p:cNvSpPr txBox="1"/>
          <p:nvPr/>
        </p:nvSpPr>
        <p:spPr>
          <a:xfrm>
            <a:off x="4718304" y="1828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Tomcat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Servlet / JSP</a:t>
            </a:r>
            <a:endParaRPr lang="en-US" sz="1200" dirty="0"/>
          </a:p>
        </p:txBody>
      </p:sp>
      <p:sp>
        <p:nvSpPr>
          <p:cNvPr id="16" name="矢印3"/>
          <p:cNvSpPr/>
          <p:nvPr/>
        </p:nvSpPr>
        <p:spPr>
          <a:xfrm>
            <a:off x="6483096" y="1828800"/>
            <a:ext cx="292608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構成_DBサーバ"/>
          <p:cNvSpPr/>
          <p:nvPr/>
        </p:nvSpPr>
        <p:spPr>
          <a:xfrm>
            <a:off x="6848856" y="137160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EEF4F5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8" name="構成名_DBサーバ"/>
          <p:cNvSpPr txBox="1"/>
          <p:nvPr/>
        </p:nvSpPr>
        <p:spPr>
          <a:xfrm>
            <a:off x="6848856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DBサーバ</a:t>
            </a:r>
            <a:endParaRPr lang="en-US" sz="1500" dirty="0"/>
          </a:p>
        </p:txBody>
      </p:sp>
      <p:sp>
        <p:nvSpPr>
          <p:cNvPr id="19" name="構成説明_DBサーバ"/>
          <p:cNvSpPr txBox="1"/>
          <p:nvPr/>
        </p:nvSpPr>
        <p:spPr>
          <a:xfrm>
            <a:off x="6848856" y="1828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MySQL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emp_sys_db</a:t>
            </a:r>
            <a:endParaRPr lang="en-US" sz="1200" dirty="0"/>
          </a:p>
        </p:txBody>
      </p:sp>
      <p:sp>
        <p:nvSpPr>
          <p:cNvPr id="20" name="目的_背景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21" name="目的_見出し"/>
          <p:cNvSpPr txBox="1"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C"/>
                </a:solidFill>
              </a:rPr>
              <a:t>目的・利用者</a:t>
            </a:r>
            <a:endParaRPr lang="en-US" sz="1400" dirty="0"/>
          </a:p>
        </p:txBody>
      </p:sp>
      <p:sp>
        <p:nvSpPr>
          <p:cNvPr id="22" name="目的_本文"/>
          <p:cNvSpPr txBox="1"/>
          <p:nvPr/>
        </p:nvSpPr>
        <p:spPr>
          <a:xfrm>
            <a:off x="594360" y="3273552"/>
            <a:ext cx="37490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利用者：従業員情報を業務で扱う総務部の社員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入退社のたびに発生する従業員情報の登録・削除を、ブラウザから行えるようにする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ログインした利用者だけが操作できる</a:t>
            </a:r>
            <a:endParaRPr lang="en-US" sz="1200" dirty="0"/>
          </a:p>
        </p:txBody>
      </p:sp>
      <p:sp>
        <p:nvSpPr>
          <p:cNvPr id="23" name="データ_背景"/>
          <p:cNvSpPr/>
          <p:nvPr/>
        </p:nvSpPr>
        <p:spPr>
          <a:xfrm>
            <a:off x="466344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24" name="データ_見出し"/>
          <p:cNvSpPr txBox="1"/>
          <p:nvPr/>
        </p:nvSpPr>
        <p:spPr>
          <a:xfrm>
            <a:off x="48006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C"/>
                </a:solidFill>
              </a:rPr>
              <a:t>管理するデータ（3テーブル）</a:t>
            </a:r>
            <a:endParaRPr lang="en-US" sz="1400" dirty="0"/>
          </a:p>
        </p:txBody>
      </p:sp>
      <p:sp>
        <p:nvSpPr>
          <p:cNvPr id="25" name="データ_本文"/>
          <p:cNvSpPr txBox="1"/>
          <p:nvPr/>
        </p:nvSpPr>
        <p:spPr>
          <a:xfrm>
            <a:off x="4800600" y="3273552"/>
            <a:ext cx="37490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employee：従業員マスタ（コード・氏名・フリガナ・性別・生年月日・所属・入社日）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section：所属マスタ（所属コード・部署名）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user：ユーザマスタ（ユーザID・パスワード）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機能一覧と画面遷移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必須機能5つ＋追加課題。ログイン後はメニュー画面から各機能へ遷移します</a:t>
            </a:r>
            <a:endParaRPr lang="en-US" sz="1300" dirty="0"/>
          </a:p>
        </p:txBody>
      </p:sp>
      <p:sp>
        <p:nvSpPr>
          <p:cNvPr id="5" name="番号バッジ1"/>
          <p:cNvSpPr txBox="1"/>
          <p:nvPr/>
        </p:nvSpPr>
        <p:spPr>
          <a:xfrm>
            <a:off x="457200" y="1298448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機能名1"/>
          <p:cNvSpPr txBox="1"/>
          <p:nvPr/>
        </p:nvSpPr>
        <p:spPr>
          <a:xfrm>
            <a:off x="914400" y="1261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ログイン</a:t>
            </a:r>
            <a:endParaRPr lang="en-US" sz="1400" dirty="0"/>
          </a:p>
        </p:txBody>
      </p:sp>
      <p:sp>
        <p:nvSpPr>
          <p:cNvPr id="7" name="機能説明1"/>
          <p:cNvSpPr txBox="1"/>
          <p:nvPr/>
        </p:nvSpPr>
        <p:spPr>
          <a:xfrm>
            <a:off x="2743200" y="12618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ユーザID・パスワードで認証。成功→メニュー、失敗→エラー画面</a:t>
            </a:r>
            <a:endParaRPr lang="en-US" sz="1200" dirty="0"/>
          </a:p>
        </p:txBody>
      </p:sp>
      <p:sp>
        <p:nvSpPr>
          <p:cNvPr id="8" name="区分1"/>
          <p:cNvSpPr txBox="1"/>
          <p:nvPr/>
        </p:nvSpPr>
        <p:spPr>
          <a:xfrm>
            <a:off x="7909560" y="132588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必須</a:t>
            </a:r>
            <a:endParaRPr lang="en-US" sz="1100" dirty="0"/>
          </a:p>
        </p:txBody>
      </p:sp>
      <p:sp>
        <p:nvSpPr>
          <p:cNvPr id="9" name="番号バッジ2"/>
          <p:cNvSpPr txBox="1"/>
          <p:nvPr/>
        </p:nvSpPr>
        <p:spPr>
          <a:xfrm>
            <a:off x="457200" y="1773936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機能名2"/>
          <p:cNvSpPr txBox="1"/>
          <p:nvPr/>
        </p:nvSpPr>
        <p:spPr>
          <a:xfrm>
            <a:off x="914400" y="1737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従業員一覧表示</a:t>
            </a:r>
            <a:endParaRPr lang="en-US" sz="1400" dirty="0"/>
          </a:p>
        </p:txBody>
      </p:sp>
      <p:sp>
        <p:nvSpPr>
          <p:cNvPr id="11" name="機能説明2"/>
          <p:cNvSpPr txBox="1"/>
          <p:nvPr/>
        </p:nvSpPr>
        <p:spPr>
          <a:xfrm>
            <a:off x="2743200" y="17373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全従業員を表形式で表示（従業員コード昇順）</a:t>
            </a:r>
            <a:endParaRPr lang="en-US" sz="1200" dirty="0"/>
          </a:p>
        </p:txBody>
      </p:sp>
      <p:sp>
        <p:nvSpPr>
          <p:cNvPr id="12" name="区分2"/>
          <p:cNvSpPr txBox="1"/>
          <p:nvPr/>
        </p:nvSpPr>
        <p:spPr>
          <a:xfrm>
            <a:off x="7909560" y="180136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必須</a:t>
            </a:r>
            <a:endParaRPr lang="en-US" sz="1100" dirty="0"/>
          </a:p>
        </p:txBody>
      </p:sp>
      <p:sp>
        <p:nvSpPr>
          <p:cNvPr id="13" name="番号バッジ3"/>
          <p:cNvSpPr txBox="1"/>
          <p:nvPr/>
        </p:nvSpPr>
        <p:spPr>
          <a:xfrm>
            <a:off x="457200" y="2249424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機能名3"/>
          <p:cNvSpPr txBox="1"/>
          <p:nvPr/>
        </p:nvSpPr>
        <p:spPr>
          <a:xfrm>
            <a:off x="914400" y="2212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従業員情報登録</a:t>
            </a:r>
            <a:endParaRPr lang="en-US" sz="1400" dirty="0"/>
          </a:p>
        </p:txBody>
      </p:sp>
      <p:sp>
        <p:nvSpPr>
          <p:cNvPr id="15" name="機能説明3"/>
          <p:cNvSpPr txBox="1"/>
          <p:nvPr/>
        </p:nvSpPr>
        <p:spPr>
          <a:xfrm>
            <a:off x="2743200" y="221284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性別・所属はプルダウン、日付はカレンダーで入力</a:t>
            </a:r>
            <a:endParaRPr lang="en-US" sz="1200" dirty="0"/>
          </a:p>
        </p:txBody>
      </p:sp>
      <p:sp>
        <p:nvSpPr>
          <p:cNvPr id="16" name="区分3"/>
          <p:cNvSpPr txBox="1"/>
          <p:nvPr/>
        </p:nvSpPr>
        <p:spPr>
          <a:xfrm>
            <a:off x="7909560" y="227685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必須</a:t>
            </a:r>
            <a:endParaRPr lang="en-US" sz="1100" dirty="0"/>
          </a:p>
        </p:txBody>
      </p:sp>
      <p:sp>
        <p:nvSpPr>
          <p:cNvPr id="17" name="番号バッジ4"/>
          <p:cNvSpPr txBox="1"/>
          <p:nvPr/>
        </p:nvSpPr>
        <p:spPr>
          <a:xfrm>
            <a:off x="457200" y="2724912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機能名4"/>
          <p:cNvSpPr txBox="1"/>
          <p:nvPr/>
        </p:nvSpPr>
        <p:spPr>
          <a:xfrm>
            <a:off x="914400" y="26883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従業員情報削除</a:t>
            </a:r>
            <a:endParaRPr lang="en-US" sz="1400" dirty="0"/>
          </a:p>
        </p:txBody>
      </p:sp>
      <p:sp>
        <p:nvSpPr>
          <p:cNvPr id="19" name="機能説明4"/>
          <p:cNvSpPr txBox="1"/>
          <p:nvPr/>
        </p:nvSpPr>
        <p:spPr>
          <a:xfrm>
            <a:off x="2743200" y="268833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一覧で選択→確認ダイアログ→削除完了画面</a:t>
            </a:r>
            <a:endParaRPr lang="en-US" sz="1200" dirty="0"/>
          </a:p>
        </p:txBody>
      </p:sp>
      <p:sp>
        <p:nvSpPr>
          <p:cNvPr id="20" name="区分4"/>
          <p:cNvSpPr txBox="1"/>
          <p:nvPr/>
        </p:nvSpPr>
        <p:spPr>
          <a:xfrm>
            <a:off x="7909560" y="2752344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必須</a:t>
            </a:r>
            <a:endParaRPr lang="en-US" sz="1100" dirty="0"/>
          </a:p>
        </p:txBody>
      </p:sp>
      <p:sp>
        <p:nvSpPr>
          <p:cNvPr id="21" name="番号バッジ5"/>
          <p:cNvSpPr txBox="1"/>
          <p:nvPr/>
        </p:nvSpPr>
        <p:spPr>
          <a:xfrm>
            <a:off x="457200" y="3200400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機能名5"/>
          <p:cNvSpPr txBox="1"/>
          <p:nvPr/>
        </p:nvSpPr>
        <p:spPr>
          <a:xfrm>
            <a:off x="914400" y="31638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ログアウト</a:t>
            </a:r>
            <a:endParaRPr lang="en-US" sz="1400" dirty="0"/>
          </a:p>
        </p:txBody>
      </p:sp>
      <p:sp>
        <p:nvSpPr>
          <p:cNvPr id="23" name="機能説明5"/>
          <p:cNvSpPr txBox="1"/>
          <p:nvPr/>
        </p:nvSpPr>
        <p:spPr>
          <a:xfrm>
            <a:off x="2743200" y="31638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セッションを破棄しログアウト画面を表示</a:t>
            </a:r>
            <a:endParaRPr lang="en-US" sz="1200" dirty="0"/>
          </a:p>
        </p:txBody>
      </p:sp>
      <p:sp>
        <p:nvSpPr>
          <p:cNvPr id="24" name="区分5"/>
          <p:cNvSpPr txBox="1"/>
          <p:nvPr/>
        </p:nvSpPr>
        <p:spPr>
          <a:xfrm>
            <a:off x="7909560" y="322783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必須</a:t>
            </a:r>
            <a:endParaRPr lang="en-US" sz="1100" dirty="0"/>
          </a:p>
        </p:txBody>
      </p:sp>
      <p:sp>
        <p:nvSpPr>
          <p:cNvPr id="25" name="番号バッジ6"/>
          <p:cNvSpPr txBox="1"/>
          <p:nvPr/>
        </p:nvSpPr>
        <p:spPr>
          <a:xfrm>
            <a:off x="457200" y="3675888"/>
            <a:ext cx="347472" cy="347472"/>
          </a:xfrm>
          <a:prstGeom prst="ellipse">
            <a:avLst/>
          </a:prstGeom>
          <a:solidFill>
            <a:srgbClr val="D9A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機能名6"/>
          <p:cNvSpPr txBox="1"/>
          <p:nvPr/>
        </p:nvSpPr>
        <p:spPr>
          <a:xfrm>
            <a:off x="914400" y="3639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従業員情報更新</a:t>
            </a:r>
            <a:endParaRPr lang="en-US" sz="1400" dirty="0"/>
          </a:p>
        </p:txBody>
      </p:sp>
      <p:sp>
        <p:nvSpPr>
          <p:cNvPr id="27" name="機能説明6"/>
          <p:cNvSpPr txBox="1"/>
          <p:nvPr/>
        </p:nvSpPr>
        <p:spPr>
          <a:xfrm>
            <a:off x="2743200" y="36393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一覧で選択した従業員を初期表示して更新（コードは変更不可）</a:t>
            </a:r>
            <a:endParaRPr lang="en-US" sz="1200" dirty="0"/>
          </a:p>
        </p:txBody>
      </p:sp>
      <p:sp>
        <p:nvSpPr>
          <p:cNvPr id="28" name="区分6"/>
          <p:cNvSpPr txBox="1"/>
          <p:nvPr/>
        </p:nvSpPr>
        <p:spPr>
          <a:xfrm>
            <a:off x="7909560" y="370332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D9A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追加</a:t>
            </a:r>
            <a:endParaRPr lang="en-US" sz="1100" dirty="0"/>
          </a:p>
        </p:txBody>
      </p:sp>
      <p:sp>
        <p:nvSpPr>
          <p:cNvPr id="29" name="番号バッジ7"/>
          <p:cNvSpPr txBox="1"/>
          <p:nvPr/>
        </p:nvSpPr>
        <p:spPr>
          <a:xfrm>
            <a:off x="457200" y="4151376"/>
            <a:ext cx="347472" cy="347472"/>
          </a:xfrm>
          <a:prstGeom prst="ellipse">
            <a:avLst/>
          </a:prstGeom>
          <a:solidFill>
            <a:srgbClr val="D9A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機能名7"/>
          <p:cNvSpPr txBox="1"/>
          <p:nvPr/>
        </p:nvSpPr>
        <p:spPr>
          <a:xfrm>
            <a:off x="914400" y="4114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ユーザ情報登録</a:t>
            </a:r>
            <a:endParaRPr lang="en-US" sz="1400" dirty="0"/>
          </a:p>
        </p:txBody>
      </p:sp>
      <p:sp>
        <p:nvSpPr>
          <p:cNvPr id="31" name="機能説明7"/>
          <p:cNvSpPr txBox="1"/>
          <p:nvPr/>
        </p:nvSpPr>
        <p:spPr>
          <a:xfrm>
            <a:off x="2743200" y="41148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システム利用者（ユーザID・パスワード）を登録</a:t>
            </a:r>
            <a:endParaRPr lang="en-US" sz="1200" dirty="0"/>
          </a:p>
        </p:txBody>
      </p:sp>
      <p:sp>
        <p:nvSpPr>
          <p:cNvPr id="32" name="区分7"/>
          <p:cNvSpPr txBox="1"/>
          <p:nvPr/>
        </p:nvSpPr>
        <p:spPr>
          <a:xfrm>
            <a:off x="7909560" y="417880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D9A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追加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開発環境とプログラム構成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Servlet（受付）→ Logic（処理）→ DAO（DB操作）の3層に分けて実装</a:t>
            </a:r>
            <a:endParaRPr lang="en-US" sz="1300" dirty="0"/>
          </a:p>
        </p:txBody>
      </p:sp>
      <p:graphicFrame>
        <p:nvGraphicFramePr>
          <p:cNvPr id="6" name="開発環境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言語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Java 25（JDK）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Eclipse（Pleiades）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APサーバ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Tomcat 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DB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MySQL 8.4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JDBC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mysql-connector-j 9.6.0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画面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JSP / CSS / JavaScript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層_servlet"/>
          <p:cNvSpPr/>
          <p:nvPr/>
        </p:nvSpPr>
        <p:spPr>
          <a:xfrm>
            <a:off x="4114800" y="13258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層名_servlet"/>
          <p:cNvSpPr txBox="1"/>
          <p:nvPr/>
        </p:nvSpPr>
        <p:spPr>
          <a:xfrm>
            <a:off x="4224528" y="143560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servlet</a:t>
            </a:r>
            <a:endParaRPr lang="en-US" sz="1200" dirty="0"/>
          </a:p>
        </p:txBody>
      </p:sp>
      <p:sp>
        <p:nvSpPr>
          <p:cNvPr id="8" name="層説明_servlet"/>
          <p:cNvSpPr txBox="1"/>
          <p:nvPr/>
        </p:nvSpPr>
        <p:spPr>
          <a:xfrm>
            <a:off x="5257800" y="1417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画面からの要求を受け付け、JSPへ振り分け</a:t>
            </a:r>
            <a:endParaRPr lang="en-US" sz="1200" dirty="0"/>
          </a:p>
        </p:txBody>
      </p:sp>
      <p:sp>
        <p:nvSpPr>
          <p:cNvPr id="9" name="層クラス_servlet"/>
          <p:cNvSpPr txBox="1"/>
          <p:nvPr/>
        </p:nvSpPr>
        <p:spPr>
          <a:xfrm>
            <a:off x="4224528" y="1783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Login / Logout / AdminMenu / EmployeeList / EmployeeCreate / EmployeeDelete / EmployeeEdit …</a:t>
            </a:r>
            <a:endParaRPr lang="en-US" sz="1000" dirty="0"/>
          </a:p>
        </p:txBody>
      </p:sp>
      <p:sp>
        <p:nvSpPr>
          <p:cNvPr id="10" name="層_model"/>
          <p:cNvSpPr/>
          <p:nvPr/>
        </p:nvSpPr>
        <p:spPr>
          <a:xfrm>
            <a:off x="4114800" y="23317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1" name="層名_model"/>
          <p:cNvSpPr txBox="1"/>
          <p:nvPr/>
        </p:nvSpPr>
        <p:spPr>
          <a:xfrm>
            <a:off x="4224528" y="244144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12" name="層説明_model"/>
          <p:cNvSpPr txBox="1"/>
          <p:nvPr/>
        </p:nvSpPr>
        <p:spPr>
          <a:xfrm>
            <a:off x="5257800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業務ロジックとデータの入れ物</a:t>
            </a:r>
            <a:endParaRPr lang="en-US" sz="1200" dirty="0"/>
          </a:p>
        </p:txBody>
      </p:sp>
      <p:sp>
        <p:nvSpPr>
          <p:cNvPr id="13" name="層クラス_model"/>
          <p:cNvSpPr txBox="1"/>
          <p:nvPr/>
        </p:nvSpPr>
        <p:spPr>
          <a:xfrm>
            <a:off x="4224528" y="2788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LoginLogic / EmployeeListLogic / EmployeeCreateLogic 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Employee / Section / User</a:t>
            </a:r>
            <a:endParaRPr lang="en-US" sz="1000" dirty="0"/>
          </a:p>
        </p:txBody>
      </p:sp>
      <p:sp>
        <p:nvSpPr>
          <p:cNvPr id="14" name="層_dao"/>
          <p:cNvSpPr/>
          <p:nvPr/>
        </p:nvSpPr>
        <p:spPr>
          <a:xfrm>
            <a:off x="4114800" y="333756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5" name="層名_dao"/>
          <p:cNvSpPr txBox="1"/>
          <p:nvPr/>
        </p:nvSpPr>
        <p:spPr>
          <a:xfrm>
            <a:off x="4224528" y="344728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dao</a:t>
            </a:r>
            <a:endParaRPr lang="en-US" sz="1200" dirty="0"/>
          </a:p>
        </p:txBody>
      </p:sp>
      <p:sp>
        <p:nvSpPr>
          <p:cNvPr id="16" name="層説明_dao"/>
          <p:cNvSpPr txBox="1"/>
          <p:nvPr/>
        </p:nvSpPr>
        <p:spPr>
          <a:xfrm>
            <a:off x="5257800" y="3429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SQLを発行してDBを操作</a:t>
            </a:r>
            <a:endParaRPr lang="en-US" sz="1200" dirty="0"/>
          </a:p>
        </p:txBody>
      </p:sp>
      <p:sp>
        <p:nvSpPr>
          <p:cNvPr id="17" name="層クラス_dao"/>
          <p:cNvSpPr txBox="1"/>
          <p:nvPr/>
        </p:nvSpPr>
        <p:spPr>
          <a:xfrm>
            <a:off x="4224528" y="3794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UserDAO / SectionDAO / EmployeeDAO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開発の進め方（全30コマ）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要求分析から成果発表まで、WBSで進捗を管理しながら進めました</a:t>
            </a:r>
            <a:endParaRPr lang="en-US" sz="1300" dirty="0"/>
          </a:p>
        </p:txBody>
      </p:sp>
      <p:sp>
        <p:nvSpPr>
          <p:cNvPr id="5" name="工程_準備"/>
          <p:cNvSpPr txBox="1"/>
          <p:nvPr/>
        </p:nvSpPr>
        <p:spPr>
          <a:xfrm>
            <a:off x="457200" y="1325880"/>
            <a:ext cx="1139081" cy="822960"/>
          </a:xfrm>
          <a:prstGeom prst="homePlat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準備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1〜2コマ</a:t>
            </a:r>
            <a:endParaRPr lang="en-US" sz="1300" dirty="0"/>
          </a:p>
        </p:txBody>
      </p:sp>
      <p:sp>
        <p:nvSpPr>
          <p:cNvPr id="6" name="工程_要求分析"/>
          <p:cNvSpPr txBox="1"/>
          <p:nvPr/>
        </p:nvSpPr>
        <p:spPr>
          <a:xfrm>
            <a:off x="1632857" y="1325880"/>
            <a:ext cx="1139081" cy="822960"/>
          </a:xfrm>
          <a:prstGeom prst="homePlate">
            <a:avLst/>
          </a:prstGeom>
          <a:solidFill>
            <a:srgbClr val="7A6FB0"/>
          </a:solidFill>
          <a:ln>
            <a:solidFill>
              <a:srgbClr val="7A6F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要求分析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3〜5コマ</a:t>
            </a:r>
            <a:endParaRPr lang="en-US" sz="1300" dirty="0"/>
          </a:p>
        </p:txBody>
      </p:sp>
      <p:sp>
        <p:nvSpPr>
          <p:cNvPr id="7" name="工程_設計"/>
          <p:cNvSpPr txBox="1"/>
          <p:nvPr/>
        </p:nvSpPr>
        <p:spPr>
          <a:xfrm>
            <a:off x="2808514" y="1325880"/>
            <a:ext cx="1139081" cy="822960"/>
          </a:xfrm>
          <a:prstGeom prst="homePlate">
            <a:avLst/>
          </a:prstGeom>
          <a:solidFill>
            <a:srgbClr val="0F7C8C"/>
          </a:solidFill>
          <a:ln>
            <a:solidFill>
              <a:srgbClr val="0F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設計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6〜10コマ</a:t>
            </a:r>
            <a:endParaRPr lang="en-US" sz="1300" dirty="0"/>
          </a:p>
        </p:txBody>
      </p:sp>
      <p:sp>
        <p:nvSpPr>
          <p:cNvPr id="8" name="工程_実装"/>
          <p:cNvSpPr txBox="1"/>
          <p:nvPr/>
        </p:nvSpPr>
        <p:spPr>
          <a:xfrm>
            <a:off x="3984171" y="1325880"/>
            <a:ext cx="1139081" cy="822960"/>
          </a:xfrm>
          <a:prstGeom prst="homePlate">
            <a:avLst/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実装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11〜20コマ</a:t>
            </a:r>
            <a:endParaRPr lang="en-US" sz="1300" dirty="0"/>
          </a:p>
        </p:txBody>
      </p:sp>
      <p:sp>
        <p:nvSpPr>
          <p:cNvPr id="9" name="工程_テスト"/>
          <p:cNvSpPr txBox="1"/>
          <p:nvPr/>
        </p:nvSpPr>
        <p:spPr>
          <a:xfrm>
            <a:off x="5159829" y="1325880"/>
            <a:ext cx="1139081" cy="822960"/>
          </a:xfrm>
          <a:prstGeom prst="homePlate">
            <a:avLst/>
          </a:prstGeom>
          <a:solidFill>
            <a:srgbClr val="5B8C5A"/>
          </a:solidFill>
          <a:ln>
            <a:solidFill>
              <a:srgbClr val="5B8C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テスト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21〜25コマ</a:t>
            </a:r>
            <a:endParaRPr lang="en-US" sz="1300" dirty="0"/>
          </a:p>
        </p:txBody>
      </p:sp>
      <p:sp>
        <p:nvSpPr>
          <p:cNvPr id="10" name="工程_納品"/>
          <p:cNvSpPr txBox="1"/>
          <p:nvPr/>
        </p:nvSpPr>
        <p:spPr>
          <a:xfrm>
            <a:off x="6335486" y="1325880"/>
            <a:ext cx="1139081" cy="822960"/>
          </a:xfrm>
          <a:prstGeom prst="homePlate">
            <a:avLst/>
          </a:prstGeom>
          <a:solidFill>
            <a:srgbClr val="D9A43B"/>
          </a:solidFill>
          <a:ln>
            <a:solidFill>
              <a:srgbClr val="D9A4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納品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26コマ</a:t>
            </a:r>
            <a:endParaRPr lang="en-US" sz="1300" dirty="0"/>
          </a:p>
        </p:txBody>
      </p:sp>
      <p:sp>
        <p:nvSpPr>
          <p:cNvPr id="11" name="工程_発表"/>
          <p:cNvSpPr txBox="1"/>
          <p:nvPr/>
        </p:nvSpPr>
        <p:spPr>
          <a:xfrm>
            <a:off x="7511143" y="1325880"/>
            <a:ext cx="1139081" cy="822960"/>
          </a:xfrm>
          <a:prstGeom prst="homePlate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発表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27〜30コマ</a:t>
            </a:r>
            <a:endParaRPr lang="en-US" sz="1300" dirty="0"/>
          </a:p>
        </p:txBody>
      </p:sp>
      <p:sp>
        <p:nvSpPr>
          <p:cNvPr id="12" name="成果物_背景"/>
          <p:cNvSpPr/>
          <p:nvPr/>
        </p:nvSpPr>
        <p:spPr>
          <a:xfrm>
            <a:off x="457200" y="26060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3" name="成果物_見出し"/>
          <p:cNvSpPr txBox="1"/>
          <p:nvPr/>
        </p:nvSpPr>
        <p:spPr>
          <a:xfrm>
            <a:off x="5943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C"/>
                </a:solidFill>
              </a:rPr>
              <a:t>主な成果物</a:t>
            </a:r>
            <a:endParaRPr lang="en-US" sz="1400" dirty="0"/>
          </a:p>
        </p:txBody>
      </p:sp>
      <p:sp>
        <p:nvSpPr>
          <p:cNvPr id="14" name="成果物_本文"/>
          <p:cNvSpPr txBox="1"/>
          <p:nvPr/>
        </p:nvSpPr>
        <p:spPr>
          <a:xfrm>
            <a:off x="594360" y="3044952"/>
            <a:ext cx="3749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分析：ユースケース図・画面遷移図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設計：シーケンス図・クラス図・画面設計書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実装：ソースコード・DB作成SQL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テスト：テスト仕様書兼結果報告書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管理：WBS／進捗管理表</a:t>
            </a:r>
            <a:endParaRPr lang="en-US" sz="1200" dirty="0"/>
          </a:p>
        </p:txBody>
      </p:sp>
      <p:sp>
        <p:nvSpPr>
          <p:cNvPr id="15" name="役割分担_背景"/>
          <p:cNvSpPr/>
          <p:nvPr/>
        </p:nvSpPr>
        <p:spPr>
          <a:xfrm>
            <a:off x="4663440" y="26060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6" name="役割分担_見出し"/>
          <p:cNvSpPr txBox="1"/>
          <p:nvPr/>
        </p:nvSpPr>
        <p:spPr>
          <a:xfrm>
            <a:off x="480060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C"/>
                </a:solidFill>
              </a:rPr>
              <a:t>役割分担</a:t>
            </a:r>
            <a:endParaRPr lang="en-US" sz="1400" dirty="0"/>
          </a:p>
        </p:txBody>
      </p:sp>
      <p:sp>
        <p:nvSpPr>
          <p:cNvPr id="17" name="役割分担_本文"/>
          <p:cNvSpPr txBox="1"/>
          <p:nvPr/>
        </p:nvSpPr>
        <p:spPr>
          <a:xfrm>
            <a:off x="4800600" y="3063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C2410C"/>
                </a:solidFill>
              </a:rPr>
              <a:t>【記入】氏名1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：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【記入】リーダー／ログイン等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C2410C"/>
                </a:solidFill>
              </a:rPr>
              <a:t>【記入】氏名2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：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【記入】従業員一覧・削除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C2410C"/>
                </a:solidFill>
              </a:rPr>
              <a:t>【記入】氏名3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：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【記入】従業員登録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C2410C"/>
                </a:solidFill>
              </a:rPr>
              <a:t>【記入】氏名4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：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【記入】追加課題・テスト取りまとめ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デモンストレーション：基本ルート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操作：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Web画面を表示して、ログインからログアウトまでを順に操作します</a:t>
            </a:r>
            <a:endParaRPr lang="en-US" sz="1300" dirty="0"/>
          </a:p>
        </p:txBody>
      </p:sp>
      <p:sp>
        <p:nvSpPr>
          <p:cNvPr id="5" name="番号バッジ1"/>
          <p:cNvSpPr txBox="1"/>
          <p:nvPr/>
        </p:nvSpPr>
        <p:spPr>
          <a:xfrm>
            <a:off x="457200" y="1316736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デモ手順名1"/>
          <p:cNvSpPr txBox="1"/>
          <p:nvPr/>
        </p:nvSpPr>
        <p:spPr>
          <a:xfrm>
            <a:off x="960120" y="12618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ログイン</a:t>
            </a:r>
            <a:endParaRPr lang="en-US" sz="1500" dirty="0"/>
          </a:p>
        </p:txBody>
      </p:sp>
      <p:sp>
        <p:nvSpPr>
          <p:cNvPr id="7" name="デモ手順説明1"/>
          <p:cNvSpPr txBox="1"/>
          <p:nvPr/>
        </p:nvSpPr>
        <p:spPr>
          <a:xfrm>
            <a:off x="2286000" y="12618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誤ったID／パスワード → エラー画面、正しい値 → メニュー画面（「ようこそ、○○さん」）</a:t>
            </a:r>
            <a:endParaRPr lang="en-US" sz="1200" dirty="0"/>
          </a:p>
        </p:txBody>
      </p:sp>
      <p:sp>
        <p:nvSpPr>
          <p:cNvPr id="8" name="番号バッジ2"/>
          <p:cNvSpPr txBox="1"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デモ手順名2"/>
          <p:cNvSpPr txBox="1"/>
          <p:nvPr/>
        </p:nvSpPr>
        <p:spPr>
          <a:xfrm>
            <a:off x="960120" y="18653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登録</a:t>
            </a:r>
            <a:endParaRPr lang="en-US" sz="1500" dirty="0"/>
          </a:p>
        </p:txBody>
      </p:sp>
      <p:sp>
        <p:nvSpPr>
          <p:cNvPr id="10" name="デモ手順説明2"/>
          <p:cNvSpPr txBox="1"/>
          <p:nvPr/>
        </p:nvSpPr>
        <p:spPr>
          <a:xfrm>
            <a:off x="2286000" y="18653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メニュー →［従業員登録］→ 入力（性別・所属はプルダウン、日付はカレンダー）→ 登録完了画面</a:t>
            </a:r>
            <a:endParaRPr lang="en-US" sz="1200" dirty="0"/>
          </a:p>
        </p:txBody>
      </p:sp>
      <p:sp>
        <p:nvSpPr>
          <p:cNvPr id="11" name="番号バッジ3"/>
          <p:cNvSpPr txBox="1"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デモ手順名3"/>
          <p:cNvSpPr txBox="1"/>
          <p:nvPr/>
        </p:nvSpPr>
        <p:spPr>
          <a:xfrm>
            <a:off x="96012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一覧表示</a:t>
            </a:r>
            <a:endParaRPr lang="en-US" sz="1500" dirty="0"/>
          </a:p>
        </p:txBody>
      </p:sp>
      <p:sp>
        <p:nvSpPr>
          <p:cNvPr id="13" name="デモ手順説明3"/>
          <p:cNvSpPr txBox="1"/>
          <p:nvPr/>
        </p:nvSpPr>
        <p:spPr>
          <a:xfrm>
            <a:off x="2286000" y="2468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メニュー →［従業員一覧］→ 今登録した従業員が従業員コード順に表示されることを確認</a:t>
            </a:r>
            <a:endParaRPr lang="en-US" sz="1200" dirty="0"/>
          </a:p>
        </p:txBody>
      </p:sp>
      <p:sp>
        <p:nvSpPr>
          <p:cNvPr id="14" name="番号バッジ4"/>
          <p:cNvSpPr txBox="1"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デモ手順名4"/>
          <p:cNvSpPr txBox="1"/>
          <p:nvPr/>
        </p:nvSpPr>
        <p:spPr>
          <a:xfrm>
            <a:off x="960120" y="307238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削除</a:t>
            </a:r>
            <a:endParaRPr lang="en-US" sz="1500" dirty="0"/>
          </a:p>
        </p:txBody>
      </p:sp>
      <p:sp>
        <p:nvSpPr>
          <p:cNvPr id="16" name="デモ手順説明4"/>
          <p:cNvSpPr txBox="1"/>
          <p:nvPr/>
        </p:nvSpPr>
        <p:spPr>
          <a:xfrm>
            <a:off x="2286000" y="307238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一覧で従業員を選択 →［削除］→ 確認ダイアログでOK → 削除完了画面 → 一覧から消えたことを確認</a:t>
            </a:r>
            <a:endParaRPr lang="en-US" sz="1200" dirty="0"/>
          </a:p>
        </p:txBody>
      </p:sp>
      <p:sp>
        <p:nvSpPr>
          <p:cNvPr id="17" name="番号バッジ5"/>
          <p:cNvSpPr txBox="1"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デモ手順名5"/>
          <p:cNvSpPr txBox="1"/>
          <p:nvPr/>
        </p:nvSpPr>
        <p:spPr>
          <a:xfrm>
            <a:off x="960120" y="36758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ログアウト</a:t>
            </a:r>
            <a:endParaRPr lang="en-US" sz="1500" dirty="0"/>
          </a:p>
        </p:txBody>
      </p:sp>
      <p:sp>
        <p:nvSpPr>
          <p:cNvPr id="19" name="デモ手順説明5"/>
          <p:cNvSpPr txBox="1"/>
          <p:nvPr/>
        </p:nvSpPr>
        <p:spPr>
          <a:xfrm>
            <a:off x="2286000" y="36758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メニュー →［ログアウト］→ ログアウト画面 → ログイン画面へ戻る</a:t>
            </a:r>
            <a:endParaRPr lang="en-US" sz="1200" dirty="0"/>
          </a:p>
        </p:txBody>
      </p:sp>
      <p:sp>
        <p:nvSpPr>
          <p:cNvPr id="20" name="デモ環境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URL：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http://localhost:8080/empsys/　</a:t>
            </a:r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ログインID：</a:t>
            </a:r>
            <a:pPr indent="0" marL="0"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【記入】（例：metro）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デモンストレーション：追加課題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操作：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要件定義書の「余力があれば」「追加システム要件」から実装した機能</a:t>
            </a:r>
            <a:endParaRPr lang="en-US" sz="1300" dirty="0"/>
          </a:p>
        </p:txBody>
      </p:sp>
      <p:sp>
        <p:nvSpPr>
          <p:cNvPr id="5" name="追加課題1_背景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6" name="追加課題1_見出し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3B"/>
                </a:solidFill>
              </a:rPr>
              <a:t>① 従業員情報更新</a:t>
            </a:r>
            <a:endParaRPr lang="en-US" sz="1400" dirty="0"/>
          </a:p>
        </p:txBody>
      </p:sp>
      <p:sp>
        <p:nvSpPr>
          <p:cNvPr id="7" name="追加課題1_本文"/>
          <p:cNvSpPr txBox="1"/>
          <p:nvPr/>
        </p:nvSpPr>
        <p:spPr>
          <a:xfrm>
            <a:off x="594360" y="1719072"/>
            <a:ext cx="37490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一覧で従業員を選択 →［従業員更新］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更新画面に選択した従業員の情報が初期表示される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従業員コードは変更不可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更新ボタン → 更新完了画面 → 一覧で変更を確認</a:t>
            </a:r>
            <a:endParaRPr lang="en-US" sz="1200" dirty="0"/>
          </a:p>
        </p:txBody>
      </p:sp>
      <p:sp>
        <p:nvSpPr>
          <p:cNvPr id="8" name="追加課題2_背景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9" name="追加課題2_見出し"/>
          <p:cNvSpPr txBox="1"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3B"/>
                </a:solidFill>
              </a:rPr>
              <a:t>② ユーザ情報登録</a:t>
            </a:r>
            <a:endParaRPr lang="en-US" sz="1400" dirty="0"/>
          </a:p>
        </p:txBody>
      </p:sp>
      <p:sp>
        <p:nvSpPr>
          <p:cNvPr id="10" name="追加課題2_本文"/>
          <p:cNvSpPr txBox="1"/>
          <p:nvPr/>
        </p:nvSpPr>
        <p:spPr>
          <a:xfrm>
            <a:off x="4800600" y="1719072"/>
            <a:ext cx="37490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メニュー →［システム利用者登録］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ユーザID・パスワードを入力して登録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登録完了画面を確認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ログアウト後、登録したユーザでログインできることを確認</a:t>
            </a:r>
            <a:endParaRPr lang="en-US" sz="1200" dirty="0"/>
          </a:p>
        </p:txBody>
      </p:sp>
      <p:sp>
        <p:nvSpPr>
          <p:cNvPr id="11" name="見どころ_見出し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C"/>
                </a:solidFill>
              </a:rPr>
              <a:t>見どころ（ここを見てほしい点）</a:t>
            </a:r>
            <a:endParaRPr lang="en-US" sz="1300" dirty="0"/>
          </a:p>
        </p:txBody>
      </p:sp>
      <p:sp>
        <p:nvSpPr>
          <p:cNvPr id="12" name="見どころ_本文"/>
          <p:cNvSpPr txBox="1"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AF6"/>
          </a:solidFill>
          <a:ln w="12700">
            <a:solidFill>
              <a:srgbClr val="C2410C"/>
            </a:solidFill>
            <a:prstDash val="dash"/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2410C"/>
                </a:solidFill>
              </a:rPr>
              <a:t>【記入】例：更新画面を開いた時点で現在の値が入っているので、変更したい項目だけ直せば済む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学んだこと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要求分析からテスト・納品まで、ひと通りの開発工程を経験して学んだこと</a:t>
            </a:r>
            <a:endParaRPr lang="en-US" sz="1300" dirty="0"/>
          </a:p>
        </p:txBody>
      </p:sp>
      <p:sp>
        <p:nvSpPr>
          <p:cNvPr id="5" name="学び背景1"/>
          <p:cNvSpPr/>
          <p:nvPr/>
        </p:nvSpPr>
        <p:spPr>
          <a:xfrm>
            <a:off x="457200" y="132588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6" name="番号バッジ1"/>
          <p:cNvSpPr txBox="1"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学び見出し1"/>
          <p:cNvSpPr txBox="1"/>
          <p:nvPr/>
        </p:nvSpPr>
        <p:spPr>
          <a:xfrm>
            <a:off x="1143000" y="14813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開発工程</a:t>
            </a:r>
            <a:endParaRPr lang="en-US" sz="1500" dirty="0"/>
          </a:p>
        </p:txBody>
      </p:sp>
      <p:sp>
        <p:nvSpPr>
          <p:cNvPr id="8" name="学び内容1"/>
          <p:cNvSpPr txBox="1"/>
          <p:nvPr/>
        </p:nvSpPr>
        <p:spPr>
          <a:xfrm>
            <a:off x="640080" y="2057400"/>
            <a:ext cx="2249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【記入】例：設計書を先に固めると、分担して実装してもつなげやすい</a:t>
            </a:r>
            <a:endParaRPr lang="en-US" sz="1300" dirty="0"/>
          </a:p>
        </p:txBody>
      </p:sp>
      <p:sp>
        <p:nvSpPr>
          <p:cNvPr id="9" name="学び背景2"/>
          <p:cNvSpPr/>
          <p:nvPr/>
        </p:nvSpPr>
        <p:spPr>
          <a:xfrm>
            <a:off x="3264408" y="132588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番号バッジ2"/>
          <p:cNvSpPr txBox="1"/>
          <p:nvPr/>
        </p:nvSpPr>
        <p:spPr>
          <a:xfrm>
            <a:off x="3447288" y="1481328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学び見出し2"/>
          <p:cNvSpPr txBox="1"/>
          <p:nvPr/>
        </p:nvSpPr>
        <p:spPr>
          <a:xfrm>
            <a:off x="3950208" y="14813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技術</a:t>
            </a:r>
            <a:endParaRPr lang="en-US" sz="1500" dirty="0"/>
          </a:p>
        </p:txBody>
      </p:sp>
      <p:sp>
        <p:nvSpPr>
          <p:cNvPr id="12" name="学び内容2"/>
          <p:cNvSpPr txBox="1"/>
          <p:nvPr/>
        </p:nvSpPr>
        <p:spPr>
          <a:xfrm>
            <a:off x="3447288" y="2057400"/>
            <a:ext cx="2249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【記入】例：Servlet・JSP・DAOに役割を分ける構成、JDBCでのDB操作</a:t>
            </a:r>
            <a:endParaRPr lang="en-US" sz="1300" dirty="0"/>
          </a:p>
        </p:txBody>
      </p:sp>
      <p:sp>
        <p:nvSpPr>
          <p:cNvPr id="13" name="学び背景3"/>
          <p:cNvSpPr/>
          <p:nvPr/>
        </p:nvSpPr>
        <p:spPr>
          <a:xfrm>
            <a:off x="6071616" y="132588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4" name="番号バッジ3"/>
          <p:cNvSpPr txBox="1"/>
          <p:nvPr/>
        </p:nvSpPr>
        <p:spPr>
          <a:xfrm>
            <a:off x="6254496" y="1481328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学び見出し3"/>
          <p:cNvSpPr txBox="1"/>
          <p:nvPr/>
        </p:nvSpPr>
        <p:spPr>
          <a:xfrm>
            <a:off x="6757416" y="14813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チーム開発</a:t>
            </a:r>
            <a:endParaRPr lang="en-US" sz="1500" dirty="0"/>
          </a:p>
        </p:txBody>
      </p:sp>
      <p:sp>
        <p:nvSpPr>
          <p:cNvPr id="16" name="学び内容3"/>
          <p:cNvSpPr txBox="1"/>
          <p:nvPr/>
        </p:nvSpPr>
        <p:spPr>
          <a:xfrm>
            <a:off x="6254496" y="2057400"/>
            <a:ext cx="2249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2410C"/>
                </a:solidFill>
              </a:rPr>
              <a:t>【記入】例：レビューやマージの進め方、進捗の共有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苦労したこと・難しかったこと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「何が起きたか → どう解決したか」の形でまとめました</a:t>
            </a:r>
            <a:endParaRPr lang="en-US" sz="1300" dirty="0"/>
          </a:p>
        </p:txBody>
      </p:sp>
      <p:sp>
        <p:nvSpPr>
          <p:cNvPr id="5" name="列見出し_問題"/>
          <p:cNvSpPr txBox="1"/>
          <p:nvPr/>
        </p:nvSpPr>
        <p:spPr>
          <a:xfrm>
            <a:off x="265176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何が起きたか</a:t>
            </a:r>
            <a:endParaRPr lang="en-US" sz="1200" dirty="0"/>
          </a:p>
        </p:txBody>
      </p:sp>
      <p:sp>
        <p:nvSpPr>
          <p:cNvPr id="6" name="列見出し_解決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どう解決したか</a:t>
            </a:r>
            <a:endParaRPr lang="en-US" sz="1200" dirty="0"/>
          </a:p>
        </p:txBody>
      </p:sp>
      <p:sp>
        <p:nvSpPr>
          <p:cNvPr id="7" name="苦労背景1"/>
          <p:cNvSpPr/>
          <p:nvPr/>
        </p:nvSpPr>
        <p:spPr>
          <a:xfrm>
            <a:off x="457200" y="1627632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8" name="番号バッジ1"/>
          <p:cNvSpPr txBox="1"/>
          <p:nvPr/>
        </p:nvSpPr>
        <p:spPr>
          <a:xfrm>
            <a:off x="594360" y="1892808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苦労見出し1"/>
          <p:cNvSpPr txBox="1"/>
          <p:nvPr/>
        </p:nvSpPr>
        <p:spPr>
          <a:xfrm>
            <a:off x="1097280" y="1700784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仕様書と実装の食い違い</a:t>
            </a:r>
            <a:endParaRPr lang="en-US" sz="1300" dirty="0"/>
          </a:p>
        </p:txBody>
      </p:sp>
      <p:sp>
        <p:nvSpPr>
          <p:cNvPr id="10" name="苦労内容1"/>
          <p:cNvSpPr txBox="1"/>
          <p:nvPr/>
        </p:nvSpPr>
        <p:spPr>
          <a:xfrm>
            <a:off x="2651760" y="170078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URLのコンテキストルート（/emp_sys/ と /empsys/）や、氏名・フリガナの文字数上限が設計書と実装で違っていた</a:t>
            </a:r>
            <a:endParaRPr lang="en-US" sz="1100" dirty="0"/>
          </a:p>
        </p:txBody>
      </p:sp>
      <p:sp>
        <p:nvSpPr>
          <p:cNvPr id="11" name="苦労矢印1"/>
          <p:cNvSpPr/>
          <p:nvPr/>
        </p:nvSpPr>
        <p:spPr>
          <a:xfrm>
            <a:off x="5596128" y="1975104"/>
            <a:ext cx="146304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苦労解決1"/>
          <p:cNvSpPr txBox="1"/>
          <p:nvPr/>
        </p:nvSpPr>
        <p:spPr>
          <a:xfrm>
            <a:off x="5760720" y="170078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テスト結果の備考に差異を記録し、どちらを正とするかチームで決めた</a:t>
            </a:r>
            <a:endParaRPr lang="en-US" sz="1100" dirty="0"/>
          </a:p>
        </p:txBody>
      </p:sp>
      <p:sp>
        <p:nvSpPr>
          <p:cNvPr id="13" name="苦労背景2"/>
          <p:cNvSpPr/>
          <p:nvPr/>
        </p:nvSpPr>
        <p:spPr>
          <a:xfrm>
            <a:off x="457200" y="2651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4" name="番号バッジ2"/>
          <p:cNvSpPr txBox="1"/>
          <p:nvPr/>
        </p:nvSpPr>
        <p:spPr>
          <a:xfrm>
            <a:off x="594360" y="2916936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苦労見出し2"/>
          <p:cNvSpPr txBox="1"/>
          <p:nvPr/>
        </p:nvSpPr>
        <p:spPr>
          <a:xfrm>
            <a:off x="1097280" y="272491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削除確認ダイアログの不具合</a:t>
            </a:r>
            <a:endParaRPr lang="en-US" sz="1300" dirty="0"/>
          </a:p>
        </p:txBody>
      </p:sp>
      <p:sp>
        <p:nvSpPr>
          <p:cNvPr id="16" name="苦労内容2"/>
          <p:cNvSpPr txBox="1"/>
          <p:nvPr/>
        </p:nvSpPr>
        <p:spPr>
          <a:xfrm>
            <a:off x="2651760" y="272491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キャンセルを押してもフォームが送信され、選択が外れてしまっていた</a:t>
            </a:r>
            <a:endParaRPr lang="en-US" sz="1100" dirty="0"/>
          </a:p>
        </p:txBody>
      </p:sp>
      <p:sp>
        <p:nvSpPr>
          <p:cNvPr id="17" name="苦労矢印2"/>
          <p:cNvSpPr/>
          <p:nvPr/>
        </p:nvSpPr>
        <p:spPr>
          <a:xfrm>
            <a:off x="5596128" y="2999232"/>
            <a:ext cx="146304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苦労解決2"/>
          <p:cNvSpPr txBox="1"/>
          <p:nvPr/>
        </p:nvSpPr>
        <p:spPr>
          <a:xfrm>
            <a:off x="5760720" y="272491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onClick を return operation('delete') に変え、関数の最後で false を返すよう修正</a:t>
            </a:r>
            <a:endParaRPr lang="en-US" sz="1100" dirty="0"/>
          </a:p>
        </p:txBody>
      </p:sp>
      <p:sp>
        <p:nvSpPr>
          <p:cNvPr id="19" name="苦労背景3"/>
          <p:cNvSpPr/>
          <p:nvPr/>
        </p:nvSpPr>
        <p:spPr>
          <a:xfrm>
            <a:off x="457200" y="367588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20" name="番号バッジ3"/>
          <p:cNvSpPr txBox="1"/>
          <p:nvPr/>
        </p:nvSpPr>
        <p:spPr>
          <a:xfrm>
            <a:off x="594360" y="3941064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苦労見出し3"/>
          <p:cNvSpPr txBox="1"/>
          <p:nvPr/>
        </p:nvSpPr>
        <p:spPr>
          <a:xfrm>
            <a:off x="1097280" y="3749040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仕様のあいまいさ</a:t>
            </a:r>
            <a:endParaRPr lang="en-US" sz="1300" dirty="0"/>
          </a:p>
        </p:txBody>
      </p:sp>
      <p:sp>
        <p:nvSpPr>
          <p:cNvPr id="22" name="苦労内容3"/>
          <p:cNvSpPr txBox="1"/>
          <p:nvPr/>
        </p:nvSpPr>
        <p:spPr>
          <a:xfrm>
            <a:off x="2651760" y="374904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所属を未選択のまま登録できるか、全角と半角の従業員コードを同じとみなすかが決まっていなかった</a:t>
            </a:r>
            <a:endParaRPr lang="en-US" sz="1100" dirty="0"/>
          </a:p>
        </p:txBody>
      </p:sp>
      <p:sp>
        <p:nvSpPr>
          <p:cNvPr id="23" name="苦労矢印3"/>
          <p:cNvSpPr/>
          <p:nvPr/>
        </p:nvSpPr>
        <p:spPr>
          <a:xfrm>
            <a:off x="5596128" y="4023360"/>
            <a:ext cx="146304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苦労解決3"/>
          <p:cNvSpPr txBox="1"/>
          <p:nvPr/>
        </p:nvSpPr>
        <p:spPr>
          <a:xfrm>
            <a:off x="5760720" y="3749040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所属は任意項目、全角と半角は別のコードとして扱う方針に決め、テスト仕様書に反映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工夫点（アピールしたい点）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左はテスト結果から言える数字、右はチームで特に見てほしい点</a:t>
            </a:r>
            <a:endParaRPr lang="en-US" sz="1300" dirty="0"/>
          </a:p>
        </p:txBody>
      </p:sp>
      <p:sp>
        <p:nvSpPr>
          <p:cNvPr id="5" name="数値背景1"/>
          <p:cNvSpPr/>
          <p:nvPr/>
        </p:nvSpPr>
        <p:spPr>
          <a:xfrm>
            <a:off x="457200" y="12801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6" name="数値1"/>
          <p:cNvSpPr txBox="1"/>
          <p:nvPr/>
        </p:nvSpPr>
        <p:spPr>
          <a:xfrm>
            <a:off x="548640" y="133502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C8C"/>
                </a:solidFill>
              </a:rPr>
              <a:t>約50</a:t>
            </a:r>
            <a:endParaRPr lang="en-US" sz="3600" dirty="0"/>
          </a:p>
        </p:txBody>
      </p:sp>
      <p:sp>
        <p:nvSpPr>
          <p:cNvPr id="7" name="数値ラベル1"/>
          <p:cNvSpPr txBox="1"/>
          <p:nvPr/>
        </p:nvSpPr>
        <p:spPr>
          <a:xfrm>
            <a:off x="2011680" y="133502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テスト項目</a:t>
            </a:r>
            <a:endParaRPr lang="en-US" sz="1400" dirty="0"/>
          </a:p>
        </p:txBody>
      </p:sp>
      <p:sp>
        <p:nvSpPr>
          <p:cNvPr id="8" name="数値背景2"/>
          <p:cNvSpPr/>
          <p:nvPr/>
        </p:nvSpPr>
        <p:spPr>
          <a:xfrm>
            <a:off x="457200" y="230428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9" name="数値2"/>
          <p:cNvSpPr txBox="1"/>
          <p:nvPr/>
        </p:nvSpPr>
        <p:spPr>
          <a:xfrm>
            <a:off x="548640" y="235915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C8C"/>
                </a:solidFill>
              </a:rPr>
              <a:t>48</a:t>
            </a:r>
            <a:endParaRPr lang="en-US" sz="3600" dirty="0"/>
          </a:p>
        </p:txBody>
      </p:sp>
      <p:sp>
        <p:nvSpPr>
          <p:cNvPr id="10" name="数値ラベル2"/>
          <p:cNvSpPr txBox="1"/>
          <p:nvPr/>
        </p:nvSpPr>
        <p:spPr>
          <a:xfrm>
            <a:off x="2011680" y="23591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OK</a:t>
            </a:r>
            <a:endParaRPr lang="en-US" sz="1400" dirty="0"/>
          </a:p>
        </p:txBody>
      </p:sp>
      <p:sp>
        <p:nvSpPr>
          <p:cNvPr id="11" name="数値背景3"/>
          <p:cNvSpPr/>
          <p:nvPr/>
        </p:nvSpPr>
        <p:spPr>
          <a:xfrm>
            <a:off x="457200" y="332841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2" name="数値3"/>
          <p:cNvSpPr txBox="1"/>
          <p:nvPr/>
        </p:nvSpPr>
        <p:spPr>
          <a:xfrm>
            <a:off x="548640" y="338328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</a:t>
            </a:r>
            <a:endParaRPr lang="en-US" sz="3600" dirty="0"/>
          </a:p>
        </p:txBody>
      </p:sp>
      <p:sp>
        <p:nvSpPr>
          <p:cNvPr id="13" name="数値ラベル3"/>
          <p:cNvSpPr txBox="1"/>
          <p:nvPr/>
        </p:nvSpPr>
        <p:spPr>
          <a:xfrm>
            <a:off x="2011680" y="338328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NG</a:t>
            </a:r>
            <a:endParaRPr lang="en-US" sz="1400" dirty="0"/>
          </a:p>
        </p:txBody>
      </p:sp>
      <p:sp>
        <p:nvSpPr>
          <p:cNvPr id="14" name="数値注記"/>
          <p:cNvSpPr txBox="1"/>
          <p:nvPr/>
        </p:nvSpPr>
        <p:spPr>
          <a:xfrm>
            <a:off x="457200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※実施不要の2件を除く（最終版の数字に修正）</a:t>
            </a:r>
            <a:endParaRPr lang="en-US" sz="900" dirty="0"/>
          </a:p>
        </p:txBody>
      </p:sp>
      <p:sp>
        <p:nvSpPr>
          <p:cNvPr id="15" name="番号バッジ1"/>
          <p:cNvSpPr txBox="1"/>
          <p:nvPr/>
        </p:nvSpPr>
        <p:spPr>
          <a:xfrm>
            <a:off x="3566160" y="1325880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工夫見出し1"/>
          <p:cNvSpPr txBox="1"/>
          <p:nvPr/>
        </p:nvSpPr>
        <p:spPr>
          <a:xfrm>
            <a:off x="4069080" y="12801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正常系と異常系を両方テスト</a:t>
            </a:r>
            <a:endParaRPr lang="en-US" sz="1500" dirty="0"/>
          </a:p>
        </p:txBody>
      </p:sp>
      <p:sp>
        <p:nvSpPr>
          <p:cNvPr id="17" name="工夫説明1"/>
          <p:cNvSpPr txBox="1"/>
          <p:nvPr/>
        </p:nvSpPr>
        <p:spPr>
          <a:xfrm>
            <a:off x="4069080" y="16916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未入力・桁あふれ・重複コード・記号入りコードなど、境界や例外の入力も確認した</a:t>
            </a:r>
            <a:endParaRPr lang="en-US" sz="1200" dirty="0"/>
          </a:p>
        </p:txBody>
      </p:sp>
      <p:sp>
        <p:nvSpPr>
          <p:cNvPr id="18" name="番号バッジ2"/>
          <p:cNvSpPr txBox="1"/>
          <p:nvPr/>
        </p:nvSpPr>
        <p:spPr>
          <a:xfrm>
            <a:off x="3566160" y="2441448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工夫見出し2"/>
          <p:cNvSpPr txBox="1"/>
          <p:nvPr/>
        </p:nvSpPr>
        <p:spPr>
          <a:xfrm>
            <a:off x="4069080" y="23957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判断の根拠を記録</a:t>
            </a:r>
            <a:endParaRPr lang="en-US" sz="1500" dirty="0"/>
          </a:p>
        </p:txBody>
      </p:sp>
      <p:sp>
        <p:nvSpPr>
          <p:cNvPr id="20" name="工夫説明2"/>
          <p:cNvSpPr txBox="1"/>
          <p:nvPr/>
        </p:nvSpPr>
        <p:spPr>
          <a:xfrm>
            <a:off x="4069080" y="28072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仕様と違う挙動は備考に理由を残し、修正後は再テストした日付と内容も記録した</a:t>
            </a:r>
            <a:endParaRPr lang="en-US" sz="1200" dirty="0"/>
          </a:p>
        </p:txBody>
      </p:sp>
      <p:sp>
        <p:nvSpPr>
          <p:cNvPr id="21" name="番号バッジ3"/>
          <p:cNvSpPr txBox="1"/>
          <p:nvPr/>
        </p:nvSpPr>
        <p:spPr>
          <a:xfrm>
            <a:off x="3566160" y="3557016"/>
            <a:ext cx="384048" cy="384048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工夫見出し3"/>
          <p:cNvSpPr txBox="1"/>
          <p:nvPr/>
        </p:nvSpPr>
        <p:spPr>
          <a:xfrm>
            <a:off x="4069080" y="35112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2410C"/>
                </a:solidFill>
              </a:rPr>
              <a:t>【記入】チーム独自の工夫</a:t>
            </a:r>
            <a:endParaRPr lang="en-US" sz="1500" dirty="0"/>
          </a:p>
        </p:txBody>
      </p:sp>
      <p:sp>
        <p:nvSpPr>
          <p:cNvPr id="23" name="工夫説明3"/>
          <p:cNvSpPr txBox="1"/>
          <p:nvPr/>
        </p:nvSpPr>
        <p:spPr>
          <a:xfrm>
            <a:off x="4069080" y="392277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【記入】例：画面デザイン、エラーメッセージの分かりやすさ、分担の工夫など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個人ごとの感想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全員／1人30秒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担当した作業と、良かった点・反省点・次に活かしたいこと</a:t>
            </a:r>
            <a:endParaRPr lang="en-US" sz="1300" dirty="0"/>
          </a:p>
        </p:txBody>
      </p:sp>
      <p:sp>
        <p:nvSpPr>
          <p:cNvPr id="5" name="感想背景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6" name="番号バッジ1"/>
          <p:cNvSpPr txBox="1"/>
          <p:nvPr/>
        </p:nvSpPr>
        <p:spPr>
          <a:xfrm>
            <a:off x="594360" y="1417320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感想氏名1"/>
          <p:cNvSpPr txBox="1"/>
          <p:nvPr/>
        </p:nvSpPr>
        <p:spPr>
          <a:xfrm>
            <a:off x="1051560" y="1399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410C"/>
                </a:solidFill>
              </a:rPr>
              <a:t>【記入】氏名1</a:t>
            </a:r>
            <a:endParaRPr lang="en-US" sz="1400" dirty="0"/>
          </a:p>
        </p:txBody>
      </p:sp>
      <p:sp>
        <p:nvSpPr>
          <p:cNvPr id="8" name="感想本文1"/>
          <p:cNvSpPr txBox="1"/>
          <p:nvPr/>
        </p:nvSpPr>
        <p:spPr>
          <a:xfrm>
            <a:off x="640080" y="184708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良かった点：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反省点：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次に活かしたいこと：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</p:txBody>
      </p:sp>
      <p:sp>
        <p:nvSpPr>
          <p:cNvPr id="9" name="感想背景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番号バッジ2"/>
          <p:cNvSpPr txBox="1"/>
          <p:nvPr/>
        </p:nvSpPr>
        <p:spPr>
          <a:xfrm>
            <a:off x="4800600" y="1417320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感想氏名2"/>
          <p:cNvSpPr txBox="1"/>
          <p:nvPr/>
        </p:nvSpPr>
        <p:spPr>
          <a:xfrm>
            <a:off x="5257800" y="1399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410C"/>
                </a:solidFill>
              </a:rPr>
              <a:t>【記入】氏名2</a:t>
            </a:r>
            <a:endParaRPr lang="en-US" sz="1400" dirty="0"/>
          </a:p>
        </p:txBody>
      </p:sp>
      <p:sp>
        <p:nvSpPr>
          <p:cNvPr id="12" name="感想本文2"/>
          <p:cNvSpPr txBox="1"/>
          <p:nvPr/>
        </p:nvSpPr>
        <p:spPr>
          <a:xfrm>
            <a:off x="4846320" y="184708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良かった点：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反省点：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次に活かしたいこと：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</p:txBody>
      </p:sp>
      <p:sp>
        <p:nvSpPr>
          <p:cNvPr id="13" name="感想背景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4" name="番号バッジ3"/>
          <p:cNvSpPr txBox="1"/>
          <p:nvPr/>
        </p:nvSpPr>
        <p:spPr>
          <a:xfrm>
            <a:off x="594360" y="3108960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感想氏名3"/>
          <p:cNvSpPr txBox="1"/>
          <p:nvPr/>
        </p:nvSpPr>
        <p:spPr>
          <a:xfrm>
            <a:off x="1051560" y="3090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410C"/>
                </a:solidFill>
              </a:rPr>
              <a:t>【記入】氏名3</a:t>
            </a:r>
            <a:endParaRPr lang="en-US" sz="1400" dirty="0"/>
          </a:p>
        </p:txBody>
      </p:sp>
      <p:sp>
        <p:nvSpPr>
          <p:cNvPr id="16" name="感想本文3"/>
          <p:cNvSpPr txBox="1"/>
          <p:nvPr/>
        </p:nvSpPr>
        <p:spPr>
          <a:xfrm>
            <a:off x="640080" y="35387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良かった点：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反省点：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次に活かしたいこと：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</p:txBody>
      </p:sp>
      <p:sp>
        <p:nvSpPr>
          <p:cNvPr id="17" name="感想背景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8" name="番号バッジ4"/>
          <p:cNvSpPr txBox="1"/>
          <p:nvPr/>
        </p:nvSpPr>
        <p:spPr>
          <a:xfrm>
            <a:off x="4800600" y="3108960"/>
            <a:ext cx="347472" cy="347472"/>
          </a:xfrm>
          <a:prstGeom prst="ellipse">
            <a:avLst/>
          </a:prstGeom>
          <a:solidFill>
            <a:srgbClr val="0F7C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感想氏名4"/>
          <p:cNvSpPr txBox="1"/>
          <p:nvPr/>
        </p:nvSpPr>
        <p:spPr>
          <a:xfrm>
            <a:off x="5257800" y="3090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410C"/>
                </a:solidFill>
              </a:rPr>
              <a:t>【記入】氏名4</a:t>
            </a:r>
            <a:endParaRPr lang="en-US" sz="1400" dirty="0"/>
          </a:p>
        </p:txBody>
      </p:sp>
      <p:sp>
        <p:nvSpPr>
          <p:cNvPr id="20" name="感想本文4"/>
          <p:cNvSpPr txBox="1"/>
          <p:nvPr/>
        </p:nvSpPr>
        <p:spPr>
          <a:xfrm>
            <a:off x="4846320" y="35387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良かった点：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反省点：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B3C49"/>
                </a:solidFill>
              </a:rPr>
              <a:t>次に活かしたいこと：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C2410C"/>
                </a:solidFill>
              </a:rPr>
              <a:t>【記入】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C49"/>
                </a:solidFill>
              </a:rPr>
              <a:t>今後の授業への要望</a:t>
            </a:r>
            <a:endParaRPr lang="en-US" sz="2400" dirty="0"/>
          </a:p>
        </p:txBody>
      </p:sp>
      <p:sp>
        <p:nvSpPr>
          <p:cNvPr id="3" name="担当タグ"/>
          <p:cNvSpPr txBox="1"/>
          <p:nvPr/>
        </p:nvSpPr>
        <p:spPr>
          <a:xfrm>
            <a:off x="6766560" y="347472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3EC"/>
          </a:solidFill>
          <a:ln w="12700">
            <a:solidFill>
              <a:srgbClr val="C241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担当：</a:t>
            </a:r>
            <a:pPr algn="ctr" indent="0" marL="0">
              <a:buNone/>
            </a:pPr>
            <a:r>
              <a:rPr lang="en-US" sz="1100" b="1" i="1" dirty="0">
                <a:solidFill>
                  <a:srgbClr val="C2410C"/>
                </a:solidFill>
              </a:rPr>
              <a:t>【記入】</a:t>
            </a:r>
            <a:endParaRPr lang="en-US" sz="1100" dirty="0"/>
          </a:p>
        </p:txBody>
      </p:sp>
      <p:sp>
        <p:nvSpPr>
          <p:cNvPr id="4" name="サブタイトル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企業課題Iに向けて、そして来年の3年生の授業に向けて</a:t>
            </a:r>
            <a:endParaRPr lang="en-US" sz="1300" dirty="0"/>
          </a:p>
        </p:txBody>
      </p:sp>
      <p:sp>
        <p:nvSpPr>
          <p:cNvPr id="5" name="要望背景1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6" name="要望見出し1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C"/>
                </a:solidFill>
              </a:rPr>
              <a:t>企業課題Iに向けた要望</a:t>
            </a:r>
            <a:endParaRPr lang="en-US" sz="1500" dirty="0"/>
          </a:p>
        </p:txBody>
      </p:sp>
      <p:sp>
        <p:nvSpPr>
          <p:cNvPr id="7" name="要望本文1"/>
          <p:cNvSpPr txBox="1"/>
          <p:nvPr/>
        </p:nvSpPr>
        <p:spPr>
          <a:xfrm>
            <a:off x="640080" y="187452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2410C"/>
                </a:solidFill>
              </a:rPr>
              <a:t>【記入】例：今回の工程（設計〜テスト）を企業課題でも同じ流れで進めたい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2410C"/>
                </a:solidFill>
              </a:rPr>
              <a:t>【記入】例：レビューの観点を事前に共有してほしい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2410C"/>
                </a:solidFill>
              </a:rPr>
              <a:t>【記入】</a:t>
            </a:r>
            <a:endParaRPr lang="en-US" sz="1300" dirty="0"/>
          </a:p>
        </p:txBody>
      </p:sp>
      <p:sp>
        <p:nvSpPr>
          <p:cNvPr id="8" name="要望背景2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9" name="要望見出し2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C"/>
                </a:solidFill>
              </a:rPr>
              <a:t>来年の3年生授業への改善点</a:t>
            </a:r>
            <a:endParaRPr lang="en-US" sz="1500" dirty="0"/>
          </a:p>
        </p:txBody>
      </p:sp>
      <p:sp>
        <p:nvSpPr>
          <p:cNvPr id="10" name="要望本文2"/>
          <p:cNvSpPr txBox="1"/>
          <p:nvPr/>
        </p:nvSpPr>
        <p:spPr>
          <a:xfrm>
            <a:off x="4846320" y="187452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2410C"/>
                </a:solidFill>
              </a:rPr>
              <a:t>【記入】例：配布資料のテーブル定義と画面の文字数上限をそろえてほしい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2410C"/>
                </a:solidFill>
              </a:rPr>
              <a:t>【記入】例：開発環境構築の手順書がほしい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2410C"/>
                </a:solidFill>
              </a:rPr>
              <a:t>【記入】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ご清聴ありがとうございました</a:t>
            </a:r>
            <a:endParaRPr lang="en-US" sz="3600" dirty="0"/>
          </a:p>
        </p:txBody>
      </p:sp>
      <p:sp>
        <p:nvSpPr>
          <p:cNvPr id="3" name="結びメンバー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F班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　</a:t>
            </a:r>
            <a:pPr indent="0" marL="0">
              <a:buNone/>
            </a:pPr>
            <a:r>
              <a:rPr lang="en-US" sz="1600" b="1" i="1" dirty="0">
                <a:solidFill>
                  <a:srgbClr val="FDBA74"/>
                </a:solidFill>
              </a:rPr>
              <a:t>【記入】氏名1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／</a:t>
            </a:r>
            <a:pPr indent="0" marL="0">
              <a:buNone/>
            </a:pPr>
            <a:r>
              <a:rPr lang="en-US" sz="1600" b="1" i="1" dirty="0">
                <a:solidFill>
                  <a:srgbClr val="FDBA74"/>
                </a:solidFill>
              </a:rPr>
              <a:t>【記入】氏名2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／</a:t>
            </a:r>
            <a:pPr indent="0" marL="0">
              <a:buNone/>
            </a:pPr>
            <a:r>
              <a:rPr lang="en-US" sz="1600" b="1" i="1" dirty="0">
                <a:solidFill>
                  <a:srgbClr val="FDBA74"/>
                </a:solidFill>
              </a:rPr>
              <a:t>【記入】氏名3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／</a:t>
            </a:r>
            <a:pPr indent="0" marL="0">
              <a:buNone/>
            </a:pPr>
            <a:r>
              <a:rPr lang="en-US" sz="1600" b="1" i="1" dirty="0">
                <a:solidFill>
                  <a:srgbClr val="FDBA74"/>
                </a:solidFill>
              </a:rPr>
              <a:t>【記入】氏名4</a:t>
            </a:r>
            <a:endParaRPr lang="en-US" sz="1600" dirty="0"/>
          </a:p>
        </p:txBody>
      </p:sp>
      <p:sp>
        <p:nvSpPr>
          <p:cNvPr id="4" name="質疑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6"/>
                </a:solidFill>
              </a:rPr>
              <a:t>ご質問があればお願いします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成果発表会資料（従業員情報管理システム）</dc:title>
  <dc:subject>プロジェクト型演習（JavaWeb）成果発表会</dc:subject>
  <dc:creator>F班</dc:creator>
  <cp:lastModifiedBy>F班</cp:lastModifiedBy>
  <cp:revision>1</cp:revision>
  <dcterms:created xsi:type="dcterms:W3CDTF">2026-10-13T02:23:01Z</dcterms:created>
  <dcterms:modified xsi:type="dcterms:W3CDTF">2026-10-13T02:23:01Z</dcterms:modified>
</cp:coreProperties>
</file>