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7be8d9da-0b9e-461d-4a77-82aed3e58e07}">
          <p14:sldIdLst>
            <p14:sldId id="256"/>
          </p14:sldIdLst>
        </p14:section>
        <p14:section name="システム概要" id="{9b003a64-2da8-4c21-b7eb-3db95190f8b3}">
          <p14:sldIdLst>
            <p14:sldId id="257"/>
            <p14:sldId id="258"/>
            <p14:sldId id="259"/>
            <p14:sldId id="260"/>
          </p14:sldIdLst>
        </p14:section>
        <p14:section name="デモンストレーション" id="{294df66c-7663-6616-1d3f-02bf8ce9c9d2}">
          <p14:sldIdLst>
            <p14:sldId id="261"/>
            <p14:sldId id="262"/>
          </p14:sldIdLst>
        </p14:section>
        <p14:section name="振り返り" id="{a1329f9a-b472-3750-99d1-0eadff70dd3d}">
          <p14:sldIdLst>
            <p14:sldId id="263"/>
            <p14:sldId id="264"/>
            <p14:sldId id="265"/>
            <p14:sldId id="266"/>
          </p14:sldIdLst>
        </p14:section>
        <p14:section name="要望・まとめ" id="{526a2535-8aa0-ed43-f36e-479c3bd77686}">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チーム名とメンバーを紹介する。全員がホワイトボード前に並び、一人ずつ名乗る。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1.5分】※最初のチームのみ発表
・誰が何のために使うシステムかを最初に伝える。
・構成図を指しながら「ブラウザ→Tomcat上のServlet/JSP→MySQL」の流れを説明する。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・番号1〜5が必須機能、それ以降が追加課題。
・追加課題の表示は記入シートの「追加課題 &gt; 実装した」で切り替わる。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・クラス図の構成に沿って、servlet→model（Logic）→dao の順に呼び出される流れを伝える。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・工程の区切りはWBSの予定コマ。実績が大きくずれた工程があれば一言触れる。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2.5分】
・事前にTomcat・MySQLを起動し、ログイン画面を開いておく。
・まずエラー画面を見せてから正しくログインすると、入力チェックの説明になる。
・登録した従業員をそのまま削除すると、デモ後にデータが元に戻る。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
・独自に追加した機能（入力チェックの強化、画面デザインなど）があれば、ここで見せる。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・「何を学んだか」に加えて「どの場面でそう感じたか」を一言添えると伝わりやすい。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・チーム運営面（分担、スケジュール、マージ時の衝突など）の苦労があれば1件入れるとバランスがよい。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・数字はテスト仕様書兼結果報告書の最終版に合わせる。
・チーム独自の工夫は、デモで見せた画面と結びつけると印象に残る。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【担当：全員／目安 2分（1人30秒）】
・スライドには要点だけ書き、詳しくは口頭で話す。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・不満ではなく「こうなると良い」という提案の形で伝える。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全員で礼をして締める。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indent="0" marL="0">
              <a:buNone/>
              <a:defRPr lang="en-US" sz="3600" b="1" dirty="0">
                <a:solidFill>
                  <a:srgbClr val="FFFFFF"/>
                </a:solidFill>
              </a:defRPr>
            </a:lvl1pPr>
          </a:lstStyle>
          <a:p>
            <a:pPr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rtlCol="0"/>
          <a:lstStyle>
            <a:lvl1pPr algn="l" indent="0" marL="0">
              <a:buNone/>
              <a:defRPr lang="en-US" sz="2400" b="1" dirty="0">
                <a:solidFill>
                  <a:srgbClr val="0B3C49"/>
                </a:solidFill>
              </a:defRPr>
            </a:lvl1pPr>
          </a:lstStyle>
          <a:p>
            <a:pPr algn="l" indent="0" marL="0">
              <a:buNone/>
            </a:pPr>
            <a:endParaRPr lang="en-US" sz="24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rgbClr val="64748B"/>
                </a:solidFill>
              </a:rPr>
              <a:t>プロジェクト型演習（JavaWeb）成果発表会　｜　従業員情報管理システム empsys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講座名"/>
          <p:cNvSpPr txBox="1"/>
          <p:nvPr/>
        </p:nvSpPr>
        <p:spPr>
          <a:xfrm>
            <a:off x="548640" y="914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プロジェクト型演習（JavaWeb）成果発表会</a:t>
            </a:r>
            <a:endParaRPr lang="en-US" sz="1400" dirty="0"/>
          </a:p>
        </p:txBody>
      </p:sp>
      <p:sp>
        <p:nvSpPr>
          <p:cNvPr id="3"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従業員情報管理システム empsys</a:t>
            </a:r>
            <a:endParaRPr lang="en-US" sz="3600" dirty="0"/>
          </a:p>
        </p:txBody>
      </p:sp>
      <p:sp>
        <p:nvSpPr>
          <p:cNvPr id="4" name="チーム名"/>
          <p:cNvSpPr txBox="1"/>
          <p:nvPr/>
        </p:nvSpPr>
        <p:spPr>
          <a:xfrm>
            <a:off x="548640" y="2743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チーム名：</a:t>
            </a:r>
            <a:pPr indent="0" marL="0">
              <a:buNone/>
            </a:pPr>
            <a:r>
              <a:rPr lang="en-US" sz="1600" dirty="0">
                <a:solidFill>
                  <a:srgbClr val="FFFFFF"/>
                </a:solidFill>
              </a:rPr>
              <a:t>F班</a:t>
            </a:r>
            <a:endParaRPr lang="en-US" sz="1600" dirty="0"/>
          </a:p>
        </p:txBody>
      </p:sp>
      <p:sp>
        <p:nvSpPr>
          <p:cNvPr id="5" name="メンバー"/>
          <p:cNvSpPr txBox="1"/>
          <p:nvPr/>
        </p:nvSpPr>
        <p:spPr>
          <a:xfrm>
            <a:off x="548640" y="3154680"/>
            <a:ext cx="8046720" cy="685800"/>
          </a:xfrm>
          <a:prstGeom prst="rect">
            <a:avLst/>
          </a:prstGeom>
          <a:noFill/>
          <a:ln/>
        </p:spPr>
        <p:txBody>
          <a:bodyPr wrap="square" lIns="0" tIns="0" rIns="0" bIns="0" rtlCol="0" anchor="t"/>
          <a:lstStyle/>
          <a:p>
            <a:pPr indent="0" marL="0">
              <a:buNone/>
            </a:pPr>
            <a:r>
              <a:rPr lang="en-US" sz="1600" b="1" dirty="0">
                <a:solidFill>
                  <a:srgbClr val="FFFFFF"/>
                </a:solidFill>
              </a:rPr>
              <a:t>メンバー：</a:t>
            </a:r>
            <a:pPr indent="0" marL="0">
              <a:buNone/>
            </a:pPr>
            <a:r>
              <a:rPr lang="en-US" sz="1600" dirty="0">
                <a:solidFill>
                  <a:srgbClr val="FFFFFF"/>
                </a:solidFill>
              </a:rPr>
              <a:t>新井真佐斗</a:t>
            </a:r>
            <a:pPr indent="0" marL="0">
              <a:buNone/>
            </a:pPr>
            <a:r>
              <a:rPr lang="en-US" sz="1600" dirty="0">
                <a:solidFill>
                  <a:srgbClr val="FFFFFF"/>
                </a:solidFill>
              </a:rPr>
              <a:t>（リーダー）</a:t>
            </a:r>
            <a:pPr indent="0" marL="0">
              <a:buNone/>
            </a:pPr>
            <a:r>
              <a:rPr lang="en-US" sz="1600" dirty="0">
                <a:solidFill>
                  <a:srgbClr val="FFFFFF"/>
                </a:solidFill>
              </a:rPr>
              <a:t>／</a:t>
            </a:r>
            <a:pPr indent="0" marL="0">
              <a:buNone/>
            </a:pPr>
            <a:r>
              <a:rPr lang="en-US" sz="1600" dirty="0">
                <a:solidFill>
                  <a:srgbClr val="FFFFFF"/>
                </a:solidFill>
              </a:rPr>
              <a:t>栗原聡汰</a:t>
            </a:r>
            <a:pPr indent="0" marL="0">
              <a:buNone/>
            </a:pPr>
            <a:r>
              <a:rPr lang="en-US" sz="1600" dirty="0">
                <a:solidFill>
                  <a:srgbClr val="FFFFFF"/>
                </a:solidFill>
              </a:rPr>
              <a:t>／</a:t>
            </a:r>
            <a:pPr indent="0" marL="0">
              <a:buNone/>
            </a:pPr>
            <a:r>
              <a:rPr lang="en-US" sz="1600" dirty="0">
                <a:solidFill>
                  <a:srgbClr val="FFFFFF"/>
                </a:solidFill>
              </a:rPr>
              <a:t>川端はると</a:t>
            </a:r>
            <a:endParaRPr lang="en-US" sz="1600" dirty="0"/>
          </a:p>
        </p:txBody>
      </p:sp>
      <p:sp>
        <p:nvSpPr>
          <p:cNvPr id="6" name="発表日"/>
          <p:cNvSpPr txBox="1"/>
          <p:nvPr/>
        </p:nvSpPr>
        <p:spPr>
          <a:xfrm>
            <a:off x="548640" y="3886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発表日：</a:t>
            </a:r>
            <a:pPr indent="0" marL="0">
              <a:buNone/>
            </a:pPr>
            <a:r>
              <a:rPr lang="en-US" sz="1600" dirty="0">
                <a:solidFill>
                  <a:srgbClr val="FFFFFF"/>
                </a:solidFill>
              </a:rPr>
              <a:t>2026年10月27日</a:t>
            </a:r>
            <a:endParaRPr lang="en-US" sz="1600" dirty="0"/>
          </a:p>
        </p:txBody>
      </p:sp>
      <p:sp>
        <p:nvSpPr>
          <p:cNvPr id="7" name="注意"/>
          <p:cNvSpPr txBox="1"/>
          <p:nvPr/>
        </p:nvSpPr>
        <p:spPr>
          <a:xfrm>
            <a:off x="548640" y="4389120"/>
            <a:ext cx="8046720" cy="274320"/>
          </a:xfrm>
          <a:prstGeom prst="rect">
            <a:avLst/>
          </a:prstGeom>
          <a:noFill/>
          <a:ln/>
        </p:spPr>
        <p:txBody>
          <a:bodyPr wrap="square" lIns="0" tIns="0" rIns="0" bIns="0" rtlCol="0" anchor="ctr"/>
          <a:lstStyle/>
          <a:p>
            <a:pPr indent="0" marL="0">
              <a:buNone/>
            </a:pPr>
            <a:r>
              <a:rPr lang="en-US" sz="1000" dirty="0">
                <a:solidFill>
                  <a:srgbClr val="9FC3C9"/>
                </a:solidFill>
              </a:rPr>
              <a:t>この資料は記入シート.yml から自動で作られています。内容の修正は記入シートで行ってください。</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システム概要</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総務部の社員が、従業員情報をWebブラウザから閲覧・登録・削除するシステム</a:t>
            </a:r>
            <a:endParaRPr lang="en-US" sz="1300" dirty="0"/>
          </a:p>
        </p:txBody>
      </p:sp>
      <p:sp>
        <p:nvSpPr>
          <p:cNvPr id="4" name="構成_利用者"/>
          <p:cNvSpPr/>
          <p:nvPr/>
        </p:nvSpPr>
        <p:spPr>
          <a:xfrm>
            <a:off x="457200" y="1371600"/>
            <a:ext cx="1691640" cy="1188720"/>
          </a:xfrm>
          <a:prstGeom prst="roundRect">
            <a:avLst>
              <a:gd name="adj" fmla="val 7692"/>
            </a:avLst>
          </a:prstGeom>
          <a:solidFill>
            <a:srgbClr val="0F7C8C"/>
          </a:solidFill>
          <a:ln w="12700">
            <a:solidFill>
              <a:srgbClr val="0F7C8C"/>
            </a:solidFill>
            <a:prstDash val="solid"/>
          </a:ln>
        </p:spPr>
      </p:sp>
      <p:sp>
        <p:nvSpPr>
          <p:cNvPr id="5" name="構成名_利用者"/>
          <p:cNvSpPr txBox="1"/>
          <p:nvPr/>
        </p:nvSpPr>
        <p:spPr>
          <a:xfrm>
            <a:off x="457200" y="1463040"/>
            <a:ext cx="1691640" cy="365760"/>
          </a:xfrm>
          <a:prstGeom prst="rect">
            <a:avLst/>
          </a:prstGeom>
          <a:noFill/>
          <a:ln/>
        </p:spPr>
        <p:txBody>
          <a:bodyPr wrap="square" lIns="0" tIns="0" rIns="0" bIns="0" rtlCol="0" anchor="ctr"/>
          <a:lstStyle/>
          <a:p>
            <a:pPr algn="ctr" indent="0" marL="0">
              <a:buNone/>
            </a:pPr>
            <a:r>
              <a:rPr lang="en-US" sz="1500" b="1" dirty="0">
                <a:solidFill>
                  <a:srgbClr val="FFFFFF"/>
                </a:solidFill>
              </a:rPr>
              <a:t>利用者</a:t>
            </a:r>
            <a:endParaRPr lang="en-US" sz="1500" dirty="0"/>
          </a:p>
        </p:txBody>
      </p:sp>
      <p:sp>
        <p:nvSpPr>
          <p:cNvPr id="6" name="構成説明_利用者"/>
          <p:cNvSpPr txBox="1"/>
          <p:nvPr/>
        </p:nvSpPr>
        <p:spPr>
          <a:xfrm>
            <a:off x="457200" y="1828800"/>
            <a:ext cx="1691640" cy="640080"/>
          </a:xfrm>
          <a:prstGeom prst="rect">
            <a:avLst/>
          </a:prstGeom>
          <a:noFill/>
          <a:ln/>
        </p:spPr>
        <p:txBody>
          <a:bodyPr wrap="square" lIns="0" tIns="0" rIns="0" bIns="0" rtlCol="0" anchor="t"/>
          <a:lstStyle/>
          <a:p>
            <a:pPr algn="ctr" indent="0" marL="0">
              <a:buNone/>
            </a:pPr>
            <a:r>
              <a:rPr lang="en-US" sz="1200" dirty="0">
                <a:solidFill>
                  <a:srgbClr val="FFFFFF"/>
                </a:solidFill>
              </a:rPr>
              <a:t>総務部の社員</a:t>
            </a:r>
            <a:endParaRPr lang="en-US" sz="1200" dirty="0"/>
          </a:p>
        </p:txBody>
      </p:sp>
      <p:sp>
        <p:nvSpPr>
          <p:cNvPr id="7" name="矢印1"/>
          <p:cNvSpPr/>
          <p:nvPr/>
        </p:nvSpPr>
        <p:spPr>
          <a:xfrm>
            <a:off x="2221992" y="1828800"/>
            <a:ext cx="292608" cy="274320"/>
          </a:xfrm>
          <a:prstGeom prst="rightArrow">
            <a:avLst/>
          </a:prstGeom>
          <a:solidFill>
            <a:srgbClr val="64748B"/>
          </a:solidFill>
          <a:ln w="12700">
            <a:solidFill>
              <a:srgbClr val="64748B"/>
            </a:solidFill>
            <a:prstDash val="solid"/>
          </a:ln>
        </p:spPr>
      </p:sp>
      <p:sp>
        <p:nvSpPr>
          <p:cNvPr id="8" name="構成_Webブラウザ"/>
          <p:cNvSpPr/>
          <p:nvPr/>
        </p:nvSpPr>
        <p:spPr>
          <a:xfrm>
            <a:off x="2587752" y="1371600"/>
            <a:ext cx="1691640" cy="1188720"/>
          </a:xfrm>
          <a:prstGeom prst="roundRect">
            <a:avLst>
              <a:gd name="adj" fmla="val 7692"/>
            </a:avLst>
          </a:prstGeom>
          <a:solidFill>
            <a:srgbClr val="EEF4F5"/>
          </a:solidFill>
          <a:ln w="12700">
            <a:solidFill>
              <a:srgbClr val="0F7C8C"/>
            </a:solidFill>
            <a:prstDash val="solid"/>
          </a:ln>
        </p:spPr>
      </p:sp>
      <p:sp>
        <p:nvSpPr>
          <p:cNvPr id="9" name="構成名_Webブラウザ"/>
          <p:cNvSpPr txBox="1"/>
          <p:nvPr/>
        </p:nvSpPr>
        <p:spPr>
          <a:xfrm>
            <a:off x="2587752"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Webブラウザ</a:t>
            </a:r>
            <a:endParaRPr lang="en-US" sz="1500" dirty="0"/>
          </a:p>
        </p:txBody>
      </p:sp>
      <p:sp>
        <p:nvSpPr>
          <p:cNvPr id="10" name="構成説明_Webブラウザ"/>
          <p:cNvSpPr txBox="1"/>
          <p:nvPr/>
        </p:nvSpPr>
        <p:spPr>
          <a:xfrm>
            <a:off x="2587752"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画面操作</a:t>
            </a:r>
            <a:endParaRPr lang="en-US" sz="1200" dirty="0"/>
          </a:p>
        </p:txBody>
      </p:sp>
      <p:sp>
        <p:nvSpPr>
          <p:cNvPr id="11" name="矢印2"/>
          <p:cNvSpPr/>
          <p:nvPr/>
        </p:nvSpPr>
        <p:spPr>
          <a:xfrm>
            <a:off x="4352544" y="1828800"/>
            <a:ext cx="292608" cy="274320"/>
          </a:xfrm>
          <a:prstGeom prst="rightArrow">
            <a:avLst/>
          </a:prstGeom>
          <a:solidFill>
            <a:srgbClr val="64748B"/>
          </a:solidFill>
          <a:ln w="12700">
            <a:solidFill>
              <a:srgbClr val="64748B"/>
            </a:solidFill>
            <a:prstDash val="solid"/>
          </a:ln>
        </p:spPr>
      </p:sp>
      <p:sp>
        <p:nvSpPr>
          <p:cNvPr id="12" name="構成_Webサーバ"/>
          <p:cNvSpPr/>
          <p:nvPr/>
        </p:nvSpPr>
        <p:spPr>
          <a:xfrm>
            <a:off x="4718304" y="1371600"/>
            <a:ext cx="1691640" cy="1188720"/>
          </a:xfrm>
          <a:prstGeom prst="roundRect">
            <a:avLst>
              <a:gd name="adj" fmla="val 7692"/>
            </a:avLst>
          </a:prstGeom>
          <a:solidFill>
            <a:srgbClr val="EEF4F5"/>
          </a:solidFill>
          <a:ln w="12700">
            <a:solidFill>
              <a:srgbClr val="0F7C8C"/>
            </a:solidFill>
            <a:prstDash val="solid"/>
          </a:ln>
        </p:spPr>
      </p:sp>
      <p:sp>
        <p:nvSpPr>
          <p:cNvPr id="13" name="構成名_Webサーバ"/>
          <p:cNvSpPr txBox="1"/>
          <p:nvPr/>
        </p:nvSpPr>
        <p:spPr>
          <a:xfrm>
            <a:off x="4718304"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Webサーバ</a:t>
            </a:r>
            <a:endParaRPr lang="en-US" sz="1500" dirty="0"/>
          </a:p>
        </p:txBody>
      </p:sp>
      <p:sp>
        <p:nvSpPr>
          <p:cNvPr id="14" name="構成説明_Webサーバ"/>
          <p:cNvSpPr txBox="1"/>
          <p:nvPr/>
        </p:nvSpPr>
        <p:spPr>
          <a:xfrm>
            <a:off x="4718304"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Tomcat</a:t>
            </a:r>
            <a:endParaRPr lang="en-US" sz="1200" dirty="0"/>
          </a:p>
          <a:p>
            <a:pPr algn="ctr" indent="0" marL="0">
              <a:buNone/>
            </a:pPr>
            <a:r>
              <a:rPr lang="en-US" sz="1200" dirty="0">
                <a:solidFill>
                  <a:srgbClr val="1F2933"/>
                </a:solidFill>
              </a:rPr>
              <a:t>Servlet / JSP</a:t>
            </a:r>
            <a:endParaRPr lang="en-US" sz="1200" dirty="0"/>
          </a:p>
        </p:txBody>
      </p:sp>
      <p:sp>
        <p:nvSpPr>
          <p:cNvPr id="15" name="矢印3"/>
          <p:cNvSpPr/>
          <p:nvPr/>
        </p:nvSpPr>
        <p:spPr>
          <a:xfrm>
            <a:off x="6483096" y="1828800"/>
            <a:ext cx="292608" cy="274320"/>
          </a:xfrm>
          <a:prstGeom prst="rightArrow">
            <a:avLst/>
          </a:prstGeom>
          <a:solidFill>
            <a:srgbClr val="64748B"/>
          </a:solidFill>
          <a:ln w="12700">
            <a:solidFill>
              <a:srgbClr val="64748B"/>
            </a:solidFill>
            <a:prstDash val="solid"/>
          </a:ln>
        </p:spPr>
      </p:sp>
      <p:sp>
        <p:nvSpPr>
          <p:cNvPr id="16" name="構成_DBサーバ"/>
          <p:cNvSpPr/>
          <p:nvPr/>
        </p:nvSpPr>
        <p:spPr>
          <a:xfrm>
            <a:off x="6848856" y="1371600"/>
            <a:ext cx="1691640" cy="1188720"/>
          </a:xfrm>
          <a:prstGeom prst="roundRect">
            <a:avLst>
              <a:gd name="adj" fmla="val 7692"/>
            </a:avLst>
          </a:prstGeom>
          <a:solidFill>
            <a:srgbClr val="EEF4F5"/>
          </a:solidFill>
          <a:ln w="12700">
            <a:solidFill>
              <a:srgbClr val="0F7C8C"/>
            </a:solidFill>
            <a:prstDash val="solid"/>
          </a:ln>
        </p:spPr>
      </p:sp>
      <p:sp>
        <p:nvSpPr>
          <p:cNvPr id="17" name="構成名_DBサーバ"/>
          <p:cNvSpPr txBox="1"/>
          <p:nvPr/>
        </p:nvSpPr>
        <p:spPr>
          <a:xfrm>
            <a:off x="6848856"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DBサーバ</a:t>
            </a:r>
            <a:endParaRPr lang="en-US" sz="1500" dirty="0"/>
          </a:p>
        </p:txBody>
      </p:sp>
      <p:sp>
        <p:nvSpPr>
          <p:cNvPr id="18" name="構成説明_DBサーバ"/>
          <p:cNvSpPr txBox="1"/>
          <p:nvPr/>
        </p:nvSpPr>
        <p:spPr>
          <a:xfrm>
            <a:off x="6848856"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MySQL</a:t>
            </a:r>
            <a:endParaRPr lang="en-US" sz="1200" dirty="0"/>
          </a:p>
          <a:p>
            <a:pPr algn="ctr" indent="0" marL="0">
              <a:buNone/>
            </a:pPr>
            <a:r>
              <a:rPr lang="en-US" sz="1200" dirty="0">
                <a:solidFill>
                  <a:srgbClr val="1F2933"/>
                </a:solidFill>
              </a:rPr>
              <a:t>emp_sys_db</a:t>
            </a:r>
            <a:endParaRPr lang="en-US" sz="1200" dirty="0"/>
          </a:p>
        </p:txBody>
      </p:sp>
      <p:sp>
        <p:nvSpPr>
          <p:cNvPr id="19" name="目的_背景"/>
          <p:cNvSpPr/>
          <p:nvPr/>
        </p:nvSpPr>
        <p:spPr>
          <a:xfrm>
            <a:off x="457200" y="2834640"/>
            <a:ext cx="4023360" cy="1783080"/>
          </a:xfrm>
          <a:prstGeom prst="roundRect">
            <a:avLst>
              <a:gd name="adj" fmla="val 4103"/>
            </a:avLst>
          </a:prstGeom>
          <a:solidFill>
            <a:srgbClr val="EEF4F5"/>
          </a:solidFill>
          <a:ln w="12700">
            <a:solidFill>
              <a:srgbClr val="EEF4F5"/>
            </a:solidFill>
            <a:prstDash val="solid"/>
          </a:ln>
        </p:spPr>
      </p:sp>
      <p:sp>
        <p:nvSpPr>
          <p:cNvPr id="20" name="目的_見出し"/>
          <p:cNvSpPr txBox="1"/>
          <p:nvPr/>
        </p:nvSpPr>
        <p:spPr>
          <a:xfrm>
            <a:off x="59436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目的・利用者</a:t>
            </a:r>
            <a:endParaRPr lang="en-US" sz="1400" dirty="0"/>
          </a:p>
        </p:txBody>
      </p:sp>
      <p:sp>
        <p:nvSpPr>
          <p:cNvPr id="21" name="目的_本文"/>
          <p:cNvSpPr txBox="1"/>
          <p:nvPr/>
        </p:nvSpPr>
        <p:spPr>
          <a:xfrm>
            <a:off x="59436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利用者：従業員情報を業務で扱う総務部の社員</a:t>
            </a:r>
            <a:endParaRPr lang="en-US" sz="1200" dirty="0"/>
          </a:p>
          <a:p>
            <a:pPr marL="342900" indent="-342900">
              <a:spcAft>
                <a:spcPts val="300"/>
              </a:spcAft>
              <a:buSzPct val="100000"/>
              <a:buChar char="•"/>
            </a:pPr>
            <a:r>
              <a:rPr lang="en-US" sz="1200" dirty="0">
                <a:solidFill>
                  <a:srgbClr val="1F2933"/>
                </a:solidFill>
              </a:rPr>
              <a:t>入退社のたびに発生する従業員情報の登録・削除を、ブラウザから行えるようにする</a:t>
            </a:r>
            <a:endParaRPr lang="en-US" sz="1200" dirty="0"/>
          </a:p>
          <a:p>
            <a:pPr marL="342900" indent="-342900">
              <a:spcAft>
                <a:spcPts val="300"/>
              </a:spcAft>
              <a:buSzPct val="100000"/>
              <a:buChar char="•"/>
            </a:pPr>
            <a:r>
              <a:rPr lang="en-US" sz="1200" dirty="0">
                <a:solidFill>
                  <a:srgbClr val="1F2933"/>
                </a:solidFill>
              </a:rPr>
              <a:t>ログインした利用者だけが操作できる</a:t>
            </a:r>
            <a:endParaRPr lang="en-US" sz="1200" dirty="0"/>
          </a:p>
        </p:txBody>
      </p:sp>
      <p:sp>
        <p:nvSpPr>
          <p:cNvPr id="22" name="データ_背景"/>
          <p:cNvSpPr/>
          <p:nvPr/>
        </p:nvSpPr>
        <p:spPr>
          <a:xfrm>
            <a:off x="4663440" y="2834640"/>
            <a:ext cx="4023360" cy="1783080"/>
          </a:xfrm>
          <a:prstGeom prst="roundRect">
            <a:avLst>
              <a:gd name="adj" fmla="val 4103"/>
            </a:avLst>
          </a:prstGeom>
          <a:solidFill>
            <a:srgbClr val="EEF4F5"/>
          </a:solidFill>
          <a:ln w="12700">
            <a:solidFill>
              <a:srgbClr val="EEF4F5"/>
            </a:solidFill>
            <a:prstDash val="solid"/>
          </a:ln>
        </p:spPr>
      </p:sp>
      <p:sp>
        <p:nvSpPr>
          <p:cNvPr id="23" name="データ_見出し"/>
          <p:cNvSpPr txBox="1"/>
          <p:nvPr/>
        </p:nvSpPr>
        <p:spPr>
          <a:xfrm>
            <a:off x="480060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管理するデータ（3テーブル）</a:t>
            </a:r>
            <a:endParaRPr lang="en-US" sz="1400" dirty="0"/>
          </a:p>
        </p:txBody>
      </p:sp>
      <p:sp>
        <p:nvSpPr>
          <p:cNvPr id="24" name="データ_本文"/>
          <p:cNvSpPr txBox="1"/>
          <p:nvPr/>
        </p:nvSpPr>
        <p:spPr>
          <a:xfrm>
            <a:off x="480060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employee：従業員マスタ（コード・氏名・フリガナ・性別・生年月日・所属・入社日）</a:t>
            </a:r>
            <a:endParaRPr lang="en-US" sz="1200" dirty="0"/>
          </a:p>
          <a:p>
            <a:pPr marL="342900" indent="-342900">
              <a:spcAft>
                <a:spcPts val="300"/>
              </a:spcAft>
              <a:buSzPct val="100000"/>
              <a:buChar char="•"/>
            </a:pPr>
            <a:r>
              <a:rPr lang="en-US" sz="1200" dirty="0">
                <a:solidFill>
                  <a:srgbClr val="1F2933"/>
                </a:solidFill>
              </a:rPr>
              <a:t>section：所属マスタ（所属コード・部署名）</a:t>
            </a:r>
            <a:endParaRPr lang="en-US" sz="1200" dirty="0"/>
          </a:p>
          <a:p>
            <a:pPr marL="342900" indent="-342900">
              <a:spcAft>
                <a:spcPts val="300"/>
              </a:spcAft>
              <a:buSzPct val="100000"/>
              <a:buChar char="•"/>
            </a:pPr>
            <a:r>
              <a:rPr lang="en-US" sz="1200" dirty="0">
                <a:solidFill>
                  <a:srgbClr val="1F2933"/>
                </a:solidFill>
              </a:rPr>
              <a:t>user：ユーザマスタ（ユーザID・パスワード）</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機能一覧と画面遷移</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必須機能5つ＋追加課題。ログイン後はメニュー画面から各機能へ遷移します</a:t>
            </a:r>
            <a:endParaRPr lang="en-US" sz="1300" dirty="0"/>
          </a:p>
        </p:txBody>
      </p:sp>
      <p:sp>
        <p:nvSpPr>
          <p:cNvPr id="4" name="番号バッジ1"/>
          <p:cNvSpPr txBox="1"/>
          <p:nvPr/>
        </p:nvSpPr>
        <p:spPr>
          <a:xfrm>
            <a:off x="457200" y="1298448"/>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機能名1"/>
          <p:cNvSpPr txBox="1"/>
          <p:nvPr/>
        </p:nvSpPr>
        <p:spPr>
          <a:xfrm>
            <a:off x="914400" y="126187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ログイン</a:t>
            </a:r>
            <a:endParaRPr lang="en-US" sz="1400" dirty="0"/>
          </a:p>
        </p:txBody>
      </p:sp>
      <p:sp>
        <p:nvSpPr>
          <p:cNvPr id="6" name="機能説明1"/>
          <p:cNvSpPr txBox="1"/>
          <p:nvPr/>
        </p:nvSpPr>
        <p:spPr>
          <a:xfrm>
            <a:off x="2743200" y="1261872"/>
            <a:ext cx="5029200" cy="420624"/>
          </a:xfrm>
          <a:prstGeom prst="rect">
            <a:avLst/>
          </a:prstGeom>
          <a:noFill/>
          <a:ln/>
        </p:spPr>
        <p:txBody>
          <a:bodyPr wrap="square" lIns="0" tIns="0" rIns="0" bIns="0" rtlCol="0" anchor="ctr"/>
          <a:lstStyle/>
          <a:p>
            <a:pPr indent="0" marL="0">
              <a:buNone/>
            </a:pPr>
            <a:r>
              <a:rPr lang="en-US" sz="1200" dirty="0">
                <a:solidFill>
                  <a:srgbClr val="1F2933"/>
                </a:solidFill>
              </a:rPr>
              <a:t>ユーザID・パスワードで認証。成功→メニュー、失敗→エラー画面</a:t>
            </a:r>
            <a:endParaRPr lang="en-US" sz="1200" dirty="0"/>
          </a:p>
        </p:txBody>
      </p:sp>
      <p:sp>
        <p:nvSpPr>
          <p:cNvPr id="7" name="区分1"/>
          <p:cNvSpPr txBox="1"/>
          <p:nvPr/>
        </p:nvSpPr>
        <p:spPr>
          <a:xfrm>
            <a:off x="7909560" y="1325880"/>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8" name="番号バッジ2"/>
          <p:cNvSpPr txBox="1"/>
          <p:nvPr/>
        </p:nvSpPr>
        <p:spPr>
          <a:xfrm>
            <a:off x="457200" y="1773936"/>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機能名2"/>
          <p:cNvSpPr txBox="1"/>
          <p:nvPr/>
        </p:nvSpPr>
        <p:spPr>
          <a:xfrm>
            <a:off x="914400" y="173736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従業員一覧表示</a:t>
            </a:r>
            <a:endParaRPr lang="en-US" sz="1400" dirty="0"/>
          </a:p>
        </p:txBody>
      </p:sp>
      <p:sp>
        <p:nvSpPr>
          <p:cNvPr id="10" name="機能説明2"/>
          <p:cNvSpPr txBox="1"/>
          <p:nvPr/>
        </p:nvSpPr>
        <p:spPr>
          <a:xfrm>
            <a:off x="2743200" y="1737360"/>
            <a:ext cx="5029200" cy="420624"/>
          </a:xfrm>
          <a:prstGeom prst="rect">
            <a:avLst/>
          </a:prstGeom>
          <a:noFill/>
          <a:ln/>
        </p:spPr>
        <p:txBody>
          <a:bodyPr wrap="square" lIns="0" tIns="0" rIns="0" bIns="0" rtlCol="0" anchor="ctr"/>
          <a:lstStyle/>
          <a:p>
            <a:pPr indent="0" marL="0">
              <a:buNone/>
            </a:pPr>
            <a:r>
              <a:rPr lang="en-US" sz="1200" dirty="0">
                <a:solidFill>
                  <a:srgbClr val="1F2933"/>
                </a:solidFill>
              </a:rPr>
              <a:t>全従業員を表形式で表示（従業員コード昇順）</a:t>
            </a:r>
            <a:endParaRPr lang="en-US" sz="1200" dirty="0"/>
          </a:p>
        </p:txBody>
      </p:sp>
      <p:sp>
        <p:nvSpPr>
          <p:cNvPr id="11" name="区分2"/>
          <p:cNvSpPr txBox="1"/>
          <p:nvPr/>
        </p:nvSpPr>
        <p:spPr>
          <a:xfrm>
            <a:off x="7909560" y="1801368"/>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2" name="番号バッジ3"/>
          <p:cNvSpPr txBox="1"/>
          <p:nvPr/>
        </p:nvSpPr>
        <p:spPr>
          <a:xfrm>
            <a:off x="457200" y="2249424"/>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3" name="機能名3"/>
          <p:cNvSpPr txBox="1"/>
          <p:nvPr/>
        </p:nvSpPr>
        <p:spPr>
          <a:xfrm>
            <a:off x="914400" y="2212848"/>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従業員情報登録</a:t>
            </a:r>
            <a:endParaRPr lang="en-US" sz="1400" dirty="0"/>
          </a:p>
        </p:txBody>
      </p:sp>
      <p:sp>
        <p:nvSpPr>
          <p:cNvPr id="14" name="機能説明3"/>
          <p:cNvSpPr txBox="1"/>
          <p:nvPr/>
        </p:nvSpPr>
        <p:spPr>
          <a:xfrm>
            <a:off x="2743200" y="2212848"/>
            <a:ext cx="5029200" cy="420624"/>
          </a:xfrm>
          <a:prstGeom prst="rect">
            <a:avLst/>
          </a:prstGeom>
          <a:noFill/>
          <a:ln/>
        </p:spPr>
        <p:txBody>
          <a:bodyPr wrap="square" lIns="0" tIns="0" rIns="0" bIns="0" rtlCol="0" anchor="ctr"/>
          <a:lstStyle/>
          <a:p>
            <a:pPr indent="0" marL="0">
              <a:buNone/>
            </a:pPr>
            <a:r>
              <a:rPr lang="en-US" sz="1200" dirty="0">
                <a:solidFill>
                  <a:srgbClr val="1F2933"/>
                </a:solidFill>
              </a:rPr>
              <a:t>性別・所属はプルダウン、日付はカレンダーで入力</a:t>
            </a:r>
            <a:endParaRPr lang="en-US" sz="1200" dirty="0"/>
          </a:p>
        </p:txBody>
      </p:sp>
      <p:sp>
        <p:nvSpPr>
          <p:cNvPr id="15" name="区分3"/>
          <p:cNvSpPr txBox="1"/>
          <p:nvPr/>
        </p:nvSpPr>
        <p:spPr>
          <a:xfrm>
            <a:off x="7909560" y="2276856"/>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6" name="番号バッジ4"/>
          <p:cNvSpPr txBox="1"/>
          <p:nvPr/>
        </p:nvSpPr>
        <p:spPr>
          <a:xfrm>
            <a:off x="457200" y="2724912"/>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7" name="機能名4"/>
          <p:cNvSpPr txBox="1"/>
          <p:nvPr/>
        </p:nvSpPr>
        <p:spPr>
          <a:xfrm>
            <a:off x="914400" y="2688336"/>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従業員情報削除</a:t>
            </a:r>
            <a:endParaRPr lang="en-US" sz="1400" dirty="0"/>
          </a:p>
        </p:txBody>
      </p:sp>
      <p:sp>
        <p:nvSpPr>
          <p:cNvPr id="18" name="機能説明4"/>
          <p:cNvSpPr txBox="1"/>
          <p:nvPr/>
        </p:nvSpPr>
        <p:spPr>
          <a:xfrm>
            <a:off x="2743200" y="2688336"/>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一覧で選択→確認ダイアログ→削除完了画面</a:t>
            </a:r>
            <a:endParaRPr lang="en-US" sz="1200" dirty="0"/>
          </a:p>
        </p:txBody>
      </p:sp>
      <p:sp>
        <p:nvSpPr>
          <p:cNvPr id="19" name="区分4"/>
          <p:cNvSpPr txBox="1"/>
          <p:nvPr/>
        </p:nvSpPr>
        <p:spPr>
          <a:xfrm>
            <a:off x="7909560" y="2752344"/>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0" name="番号バッジ5"/>
          <p:cNvSpPr txBox="1"/>
          <p:nvPr/>
        </p:nvSpPr>
        <p:spPr>
          <a:xfrm>
            <a:off x="457200" y="320040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1" name="機能名5"/>
          <p:cNvSpPr txBox="1"/>
          <p:nvPr/>
        </p:nvSpPr>
        <p:spPr>
          <a:xfrm>
            <a:off x="914400" y="3163824"/>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ログアウト</a:t>
            </a:r>
            <a:endParaRPr lang="en-US" sz="1400" dirty="0"/>
          </a:p>
        </p:txBody>
      </p:sp>
      <p:sp>
        <p:nvSpPr>
          <p:cNvPr id="22" name="機能説明5"/>
          <p:cNvSpPr txBox="1"/>
          <p:nvPr/>
        </p:nvSpPr>
        <p:spPr>
          <a:xfrm>
            <a:off x="2743200" y="3163824"/>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セッションを破棄しログアウト画面を表示</a:t>
            </a:r>
            <a:endParaRPr lang="en-US" sz="1200" dirty="0"/>
          </a:p>
        </p:txBody>
      </p:sp>
      <p:sp>
        <p:nvSpPr>
          <p:cNvPr id="23" name="区分5"/>
          <p:cNvSpPr txBox="1"/>
          <p:nvPr/>
        </p:nvSpPr>
        <p:spPr>
          <a:xfrm>
            <a:off x="7909560" y="3227832"/>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4" name="番号バッジ6"/>
          <p:cNvSpPr txBox="1"/>
          <p:nvPr/>
        </p:nvSpPr>
        <p:spPr>
          <a:xfrm>
            <a:off x="457200" y="3675888"/>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5" name="機能名6"/>
          <p:cNvSpPr txBox="1"/>
          <p:nvPr/>
        </p:nvSpPr>
        <p:spPr>
          <a:xfrm>
            <a:off x="914400" y="363931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従業員情報更新</a:t>
            </a:r>
            <a:endParaRPr lang="en-US" sz="1400" dirty="0"/>
          </a:p>
        </p:txBody>
      </p:sp>
      <p:sp>
        <p:nvSpPr>
          <p:cNvPr id="26" name="機能説明6"/>
          <p:cNvSpPr txBox="1"/>
          <p:nvPr/>
        </p:nvSpPr>
        <p:spPr>
          <a:xfrm>
            <a:off x="2743200" y="3639312"/>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一覧で選択した従業員を初期表示して更新（コードは変更不可）</a:t>
            </a:r>
            <a:endParaRPr lang="en-US" sz="1200" dirty="0"/>
          </a:p>
        </p:txBody>
      </p:sp>
      <p:sp>
        <p:nvSpPr>
          <p:cNvPr id="27" name="区分6"/>
          <p:cNvSpPr txBox="1"/>
          <p:nvPr/>
        </p:nvSpPr>
        <p:spPr>
          <a:xfrm>
            <a:off x="7909560" y="3703320"/>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8" name="番号バッジ7"/>
          <p:cNvSpPr txBox="1"/>
          <p:nvPr/>
        </p:nvSpPr>
        <p:spPr>
          <a:xfrm>
            <a:off x="457200" y="4151376"/>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9" name="機能名7"/>
          <p:cNvSpPr txBox="1"/>
          <p:nvPr/>
        </p:nvSpPr>
        <p:spPr>
          <a:xfrm>
            <a:off x="914400" y="411480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ユーザ情報登録</a:t>
            </a:r>
            <a:endParaRPr lang="en-US" sz="1400" dirty="0"/>
          </a:p>
        </p:txBody>
      </p:sp>
      <p:sp>
        <p:nvSpPr>
          <p:cNvPr id="30" name="機能説明7"/>
          <p:cNvSpPr txBox="1"/>
          <p:nvPr/>
        </p:nvSpPr>
        <p:spPr>
          <a:xfrm>
            <a:off x="2743200" y="4114800"/>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システム利用者（ユーザID・パスワード）を登録</a:t>
            </a:r>
            <a:endParaRPr lang="en-US" sz="1200" dirty="0"/>
          </a:p>
        </p:txBody>
      </p:sp>
      <p:sp>
        <p:nvSpPr>
          <p:cNvPr id="31" name="区分7"/>
          <p:cNvSpPr txBox="1"/>
          <p:nvPr/>
        </p:nvSpPr>
        <p:spPr>
          <a:xfrm>
            <a:off x="7909560" y="4178808"/>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開発環境とプログラム構成</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Servlet（受付）→ Logic（処理）→ DAO（DB操作）の3層に分けて実装</a:t>
            </a:r>
            <a:endParaRPr lang="en-US" sz="1300" dirty="0"/>
          </a:p>
        </p:txBody>
      </p:sp>
      <p:graphicFrame>
        <p:nvGraphicFramePr>
          <p:cNvPr id="5" name="開発環境表"/>
          <p:cNvGraphicFramePr>
            <a:graphicFrameLocks noGrp="1"/>
          </p:cNvGraphicFramePr>
          <p:nvPr>
            <p:extLst>
              <p:ext uri="{D42A27DB-BD31-4B8C-83A1-F6EECF244321}">
                <p14:modId xmlns:p14="http://schemas.microsoft.com/office/powerpoint/2010/main" val="1579011935"/>
              </p:ext>
            </p:extLst>
          </p:nvPr>
        </p:nvGraphicFramePr>
        <p:xfrm>
          <a:off x="457200" y="1325880"/>
          <a:ext cx="3291840" cy="914400"/>
        </p:xfrm>
        <a:graphic>
          <a:graphicData uri="http://schemas.openxmlformats.org/drawingml/2006/table">
            <a:tbl>
              <a:tblPr/>
              <a:tblGrid>
                <a:gridCol w="1005840"/>
                <a:gridCol w="2286000"/>
              </a:tblGrid>
              <a:tr h="384048">
                <a:tc>
                  <a:txBody>
                    <a:bodyPr/>
                    <a:lstStyle/>
                    <a:p>
                      <a:pPr indent="0" marL="0">
                        <a:buNone/>
                      </a:pPr>
                      <a:r>
                        <a:rPr lang="en-US" sz="1200" b="1" dirty="0">
                          <a:solidFill>
                            <a:srgbClr val="0B3C49"/>
                          </a:solidFill>
                        </a:rPr>
                        <a:t>言語</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Java 25（JDK）</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IDE</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Eclipse（Pleiades）</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APサーバ</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Tomcat 11</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DB</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 8.4</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JDBC</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mysql-connector-j 9.6.0</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画面</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JSP / CSS / JavaScript</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5" name="層_servlet"/>
          <p:cNvSpPr/>
          <p:nvPr/>
        </p:nvSpPr>
        <p:spPr>
          <a:xfrm>
            <a:off x="4114800" y="1325880"/>
            <a:ext cx="4572000" cy="868680"/>
          </a:xfrm>
          <a:prstGeom prst="roundRect">
            <a:avLst>
              <a:gd name="adj" fmla="val 8421"/>
            </a:avLst>
          </a:prstGeom>
          <a:solidFill>
            <a:srgbClr val="EEF4F5"/>
          </a:solidFill>
          <a:ln w="12700">
            <a:solidFill>
              <a:srgbClr val="EEF4F5"/>
            </a:solidFill>
            <a:prstDash val="solid"/>
          </a:ln>
        </p:spPr>
      </p:sp>
      <p:sp>
        <p:nvSpPr>
          <p:cNvPr id="6" name="層名_servlet"/>
          <p:cNvSpPr txBox="1"/>
          <p:nvPr/>
        </p:nvSpPr>
        <p:spPr>
          <a:xfrm>
            <a:off x="4224528" y="143560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servlet</a:t>
            </a:r>
            <a:endParaRPr lang="en-US" sz="1200" dirty="0"/>
          </a:p>
        </p:txBody>
      </p:sp>
      <p:sp>
        <p:nvSpPr>
          <p:cNvPr id="7" name="層説明_servlet"/>
          <p:cNvSpPr txBox="1"/>
          <p:nvPr/>
        </p:nvSpPr>
        <p:spPr>
          <a:xfrm>
            <a:off x="5257800" y="141732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画面からの要求を受け付け、JSPへ振り分け</a:t>
            </a:r>
            <a:endParaRPr lang="en-US" sz="1200" dirty="0"/>
          </a:p>
        </p:txBody>
      </p:sp>
      <p:sp>
        <p:nvSpPr>
          <p:cNvPr id="8" name="層クラス_servlet"/>
          <p:cNvSpPr txBox="1"/>
          <p:nvPr/>
        </p:nvSpPr>
        <p:spPr>
          <a:xfrm>
            <a:off x="4224528" y="178308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 / Logout / AdminMenu / EmployeeList / EmployeeCreate / EmployeeDelete / EmployeeEdit …</a:t>
            </a:r>
            <a:endParaRPr lang="en-US" sz="1000" dirty="0"/>
          </a:p>
        </p:txBody>
      </p:sp>
      <p:sp>
        <p:nvSpPr>
          <p:cNvPr id="9" name="層_model"/>
          <p:cNvSpPr/>
          <p:nvPr/>
        </p:nvSpPr>
        <p:spPr>
          <a:xfrm>
            <a:off x="4114800" y="2331720"/>
            <a:ext cx="4572000" cy="868680"/>
          </a:xfrm>
          <a:prstGeom prst="roundRect">
            <a:avLst>
              <a:gd name="adj" fmla="val 8421"/>
            </a:avLst>
          </a:prstGeom>
          <a:solidFill>
            <a:srgbClr val="EEF4F5"/>
          </a:solidFill>
          <a:ln w="12700">
            <a:solidFill>
              <a:srgbClr val="EEF4F5"/>
            </a:solidFill>
            <a:prstDash val="solid"/>
          </a:ln>
        </p:spPr>
      </p:sp>
      <p:sp>
        <p:nvSpPr>
          <p:cNvPr id="10" name="層名_model"/>
          <p:cNvSpPr txBox="1"/>
          <p:nvPr/>
        </p:nvSpPr>
        <p:spPr>
          <a:xfrm>
            <a:off x="4224528" y="244144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model</a:t>
            </a:r>
            <a:endParaRPr lang="en-US" sz="1200" dirty="0"/>
          </a:p>
        </p:txBody>
      </p:sp>
      <p:sp>
        <p:nvSpPr>
          <p:cNvPr id="11" name="層説明_model"/>
          <p:cNvSpPr txBox="1"/>
          <p:nvPr/>
        </p:nvSpPr>
        <p:spPr>
          <a:xfrm>
            <a:off x="5257800" y="242316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業務ロジックとデータの入れ物</a:t>
            </a:r>
            <a:endParaRPr lang="en-US" sz="1200" dirty="0"/>
          </a:p>
        </p:txBody>
      </p:sp>
      <p:sp>
        <p:nvSpPr>
          <p:cNvPr id="12" name="層クラス_model"/>
          <p:cNvSpPr txBox="1"/>
          <p:nvPr/>
        </p:nvSpPr>
        <p:spPr>
          <a:xfrm>
            <a:off x="4224528" y="278892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LoginLogic / EmployeeListLogic / EmployeeCreateLogic …</a:t>
            </a:r>
            <a:endParaRPr lang="en-US" sz="1000" dirty="0"/>
          </a:p>
          <a:p>
            <a:pPr indent="0" marL="0">
              <a:buNone/>
            </a:pPr>
            <a:r>
              <a:rPr lang="en-US" sz="1000" dirty="0">
                <a:solidFill>
                  <a:srgbClr val="64748B"/>
                </a:solidFill>
              </a:rPr>
              <a:t>Employee / Section / User</a:t>
            </a:r>
            <a:endParaRPr lang="en-US" sz="1000" dirty="0"/>
          </a:p>
        </p:txBody>
      </p:sp>
      <p:sp>
        <p:nvSpPr>
          <p:cNvPr id="13" name="層_dao"/>
          <p:cNvSpPr/>
          <p:nvPr/>
        </p:nvSpPr>
        <p:spPr>
          <a:xfrm>
            <a:off x="4114800" y="3337560"/>
            <a:ext cx="4572000" cy="868680"/>
          </a:xfrm>
          <a:prstGeom prst="roundRect">
            <a:avLst>
              <a:gd name="adj" fmla="val 8421"/>
            </a:avLst>
          </a:prstGeom>
          <a:solidFill>
            <a:srgbClr val="EEF4F5"/>
          </a:solidFill>
          <a:ln w="12700">
            <a:solidFill>
              <a:srgbClr val="EEF4F5"/>
            </a:solidFill>
            <a:prstDash val="solid"/>
          </a:ln>
        </p:spPr>
      </p:sp>
      <p:sp>
        <p:nvSpPr>
          <p:cNvPr id="14" name="層名_dao"/>
          <p:cNvSpPr txBox="1"/>
          <p:nvPr/>
        </p:nvSpPr>
        <p:spPr>
          <a:xfrm>
            <a:off x="4224528" y="344728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dao</a:t>
            </a:r>
            <a:endParaRPr lang="en-US" sz="1200" dirty="0"/>
          </a:p>
        </p:txBody>
      </p:sp>
      <p:sp>
        <p:nvSpPr>
          <p:cNvPr id="15" name="層説明_dao"/>
          <p:cNvSpPr txBox="1"/>
          <p:nvPr/>
        </p:nvSpPr>
        <p:spPr>
          <a:xfrm>
            <a:off x="5257800" y="342900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SQLを発行してDBを操作</a:t>
            </a:r>
            <a:endParaRPr lang="en-US" sz="1200" dirty="0"/>
          </a:p>
        </p:txBody>
      </p:sp>
      <p:sp>
        <p:nvSpPr>
          <p:cNvPr id="16" name="層クラス_dao"/>
          <p:cNvSpPr txBox="1"/>
          <p:nvPr/>
        </p:nvSpPr>
        <p:spPr>
          <a:xfrm>
            <a:off x="4224528" y="3794760"/>
            <a:ext cx="4389120" cy="384048"/>
          </a:xfrm>
          <a:prstGeom prst="rect">
            <a:avLst/>
          </a:prstGeom>
          <a:noFill/>
          <a:ln/>
        </p:spPr>
        <p:txBody>
          <a:bodyPr wrap="square" lIns="0" tIns="0" rIns="0" bIns="0" rtlCol="0" anchor="t"/>
          <a:lstStyle/>
          <a:p>
            <a:pPr indent="0" marL="0">
              <a:buNone/>
            </a:pPr>
            <a:r>
              <a:rPr lang="en-US" sz="1000" dirty="0">
                <a:solidFill>
                  <a:srgbClr val="64748B"/>
                </a:solidFill>
              </a:rPr>
              <a:t>UserDAO / SectionDAO / EmployeeDAO</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開発の進め方（全30コマ）</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要求分析から成果発表まで、WBSで進捗を管理しながら進めました</a:t>
            </a:r>
            <a:endParaRPr lang="en-US" sz="1300" dirty="0"/>
          </a:p>
        </p:txBody>
      </p:sp>
      <p:sp>
        <p:nvSpPr>
          <p:cNvPr id="4" name="工程_準備"/>
          <p:cNvSpPr txBox="1"/>
          <p:nvPr/>
        </p:nvSpPr>
        <p:spPr>
          <a:xfrm>
            <a:off x="457200" y="1325880"/>
            <a:ext cx="1139081" cy="822960"/>
          </a:xfrm>
          <a:prstGeom prst="homePlate">
            <a:avLst/>
          </a:prstGeom>
          <a:solidFill>
            <a:srgbClr val="64748B"/>
          </a:solidFill>
          <a:ln>
            <a:solidFill>
              <a:srgbClr val="64748B"/>
            </a:solidFill>
          </a:ln>
        </p:spPr>
        <p:txBody>
          <a:bodyPr wrap="square" lIns="0" tIns="0" rIns="0" bIns="0" rtlCol="0" anchor="ctr"/>
          <a:lstStyle/>
          <a:p>
            <a:pPr algn="ctr" indent="0" marL="0">
              <a:buNone/>
            </a:pPr>
            <a:r>
              <a:rPr lang="en-US" sz="1300" b="1" dirty="0">
                <a:solidFill>
                  <a:srgbClr val="FFFFFF"/>
                </a:solidFill>
              </a:rPr>
              <a:t>準備</a:t>
            </a:r>
            <a:endParaRPr lang="en-US" sz="1300" dirty="0"/>
          </a:p>
          <a:p>
            <a:pPr algn="ctr" indent="0" marL="0">
              <a:buNone/>
            </a:pPr>
            <a:r>
              <a:rPr lang="en-US" sz="1000" dirty="0">
                <a:solidFill>
                  <a:srgbClr val="FFFFFF"/>
                </a:solidFill>
              </a:rPr>
              <a:t>1〜2コマ</a:t>
            </a:r>
            <a:endParaRPr lang="en-US" sz="1300" dirty="0"/>
          </a:p>
        </p:txBody>
      </p:sp>
      <p:sp>
        <p:nvSpPr>
          <p:cNvPr id="5" name="工程_要求分析"/>
          <p:cNvSpPr txBox="1"/>
          <p:nvPr/>
        </p:nvSpPr>
        <p:spPr>
          <a:xfrm>
            <a:off x="1632857" y="1325880"/>
            <a:ext cx="1139081" cy="822960"/>
          </a:xfrm>
          <a:prstGeom prst="homePlate">
            <a:avLst/>
          </a:prstGeom>
          <a:solidFill>
            <a:srgbClr val="7A6FB0"/>
          </a:solidFill>
          <a:ln>
            <a:solidFill>
              <a:srgbClr val="7A6FB0"/>
            </a:solidFill>
          </a:ln>
        </p:spPr>
        <p:txBody>
          <a:bodyPr wrap="square" lIns="0" tIns="0" rIns="0" bIns="0" rtlCol="0" anchor="ctr"/>
          <a:lstStyle/>
          <a:p>
            <a:pPr algn="ctr" indent="0" marL="0">
              <a:buNone/>
            </a:pPr>
            <a:r>
              <a:rPr lang="en-US" sz="1300" b="1" dirty="0">
                <a:solidFill>
                  <a:srgbClr val="FFFFFF"/>
                </a:solidFill>
              </a:rPr>
              <a:t>要求分析</a:t>
            </a:r>
            <a:endParaRPr lang="en-US" sz="1300" dirty="0"/>
          </a:p>
          <a:p>
            <a:pPr algn="ctr" indent="0" marL="0">
              <a:buNone/>
            </a:pPr>
            <a:r>
              <a:rPr lang="en-US" sz="1000" dirty="0">
                <a:solidFill>
                  <a:srgbClr val="FFFFFF"/>
                </a:solidFill>
              </a:rPr>
              <a:t>3〜5コマ</a:t>
            </a:r>
            <a:endParaRPr lang="en-US" sz="1300" dirty="0"/>
          </a:p>
        </p:txBody>
      </p:sp>
      <p:sp>
        <p:nvSpPr>
          <p:cNvPr id="6" name="工程_設計"/>
          <p:cNvSpPr txBox="1"/>
          <p:nvPr/>
        </p:nvSpPr>
        <p:spPr>
          <a:xfrm>
            <a:off x="2808514" y="1325880"/>
            <a:ext cx="1139081" cy="822960"/>
          </a:xfrm>
          <a:prstGeom prst="homePlate">
            <a:avLst/>
          </a:prstGeom>
          <a:solidFill>
            <a:srgbClr val="0F7C8C"/>
          </a:solidFill>
          <a:ln>
            <a:solidFill>
              <a:srgbClr val="0F7C8C"/>
            </a:solidFill>
          </a:ln>
        </p:spPr>
        <p:txBody>
          <a:bodyPr wrap="square" lIns="0" tIns="0" rIns="0" bIns="0" rtlCol="0" anchor="ctr"/>
          <a:lstStyle/>
          <a:p>
            <a:pPr algn="ctr" indent="0" marL="0">
              <a:buNone/>
            </a:pPr>
            <a:r>
              <a:rPr lang="en-US" sz="1300" b="1" dirty="0">
                <a:solidFill>
                  <a:srgbClr val="FFFFFF"/>
                </a:solidFill>
              </a:rPr>
              <a:t>設計</a:t>
            </a:r>
            <a:endParaRPr lang="en-US" sz="1300" dirty="0"/>
          </a:p>
          <a:p>
            <a:pPr algn="ctr" indent="0" marL="0">
              <a:buNone/>
            </a:pPr>
            <a:r>
              <a:rPr lang="en-US" sz="1000" dirty="0">
                <a:solidFill>
                  <a:srgbClr val="FFFFFF"/>
                </a:solidFill>
              </a:rPr>
              <a:t>6〜10コマ</a:t>
            </a:r>
            <a:endParaRPr lang="en-US" sz="1300" dirty="0"/>
          </a:p>
        </p:txBody>
      </p:sp>
      <p:sp>
        <p:nvSpPr>
          <p:cNvPr id="7" name="工程_実装"/>
          <p:cNvSpPr txBox="1"/>
          <p:nvPr/>
        </p:nvSpPr>
        <p:spPr>
          <a:xfrm>
            <a:off x="3984171" y="1325880"/>
            <a:ext cx="1139081" cy="822960"/>
          </a:xfrm>
          <a:prstGeom prst="homePlate">
            <a:avLst/>
          </a:prstGeom>
          <a:solidFill>
            <a:srgbClr val="0B3C49"/>
          </a:solidFill>
          <a:ln>
            <a:solidFill>
              <a:srgbClr val="0B3C49"/>
            </a:solidFill>
          </a:ln>
        </p:spPr>
        <p:txBody>
          <a:bodyPr wrap="square" lIns="0" tIns="0" rIns="0" bIns="0" rtlCol="0" anchor="ctr"/>
          <a:lstStyle/>
          <a:p>
            <a:pPr algn="ctr" indent="0" marL="0">
              <a:buNone/>
            </a:pPr>
            <a:r>
              <a:rPr lang="en-US" sz="1300" b="1" dirty="0">
                <a:solidFill>
                  <a:srgbClr val="FFFFFF"/>
                </a:solidFill>
              </a:rPr>
              <a:t>実装</a:t>
            </a:r>
            <a:endParaRPr lang="en-US" sz="1300" dirty="0"/>
          </a:p>
          <a:p>
            <a:pPr algn="ctr" indent="0" marL="0">
              <a:buNone/>
            </a:pPr>
            <a:r>
              <a:rPr lang="en-US" sz="1000" dirty="0">
                <a:solidFill>
                  <a:srgbClr val="FFFFFF"/>
                </a:solidFill>
              </a:rPr>
              <a:t>11〜20コマ</a:t>
            </a:r>
            <a:endParaRPr lang="en-US" sz="1300" dirty="0"/>
          </a:p>
        </p:txBody>
      </p:sp>
      <p:sp>
        <p:nvSpPr>
          <p:cNvPr id="8" name="工程_テスト"/>
          <p:cNvSpPr txBox="1"/>
          <p:nvPr/>
        </p:nvSpPr>
        <p:spPr>
          <a:xfrm>
            <a:off x="5159829" y="1325880"/>
            <a:ext cx="1139081" cy="822960"/>
          </a:xfrm>
          <a:prstGeom prst="homePlate">
            <a:avLst/>
          </a:prstGeom>
          <a:solidFill>
            <a:srgbClr val="5B8C5A"/>
          </a:solidFill>
          <a:ln>
            <a:solidFill>
              <a:srgbClr val="5B8C5A"/>
            </a:solidFill>
          </a:ln>
        </p:spPr>
        <p:txBody>
          <a:bodyPr wrap="square" lIns="0" tIns="0" rIns="0" bIns="0" rtlCol="0" anchor="ctr"/>
          <a:lstStyle/>
          <a:p>
            <a:pPr algn="ctr" indent="0" marL="0">
              <a:buNone/>
            </a:pPr>
            <a:r>
              <a:rPr lang="en-US" sz="1300" b="1" dirty="0">
                <a:solidFill>
                  <a:srgbClr val="FFFFFF"/>
                </a:solidFill>
              </a:rPr>
              <a:t>テスト</a:t>
            </a:r>
            <a:endParaRPr lang="en-US" sz="1300" dirty="0"/>
          </a:p>
          <a:p>
            <a:pPr algn="ctr" indent="0" marL="0">
              <a:buNone/>
            </a:pPr>
            <a:r>
              <a:rPr lang="en-US" sz="1000" dirty="0">
                <a:solidFill>
                  <a:srgbClr val="FFFFFF"/>
                </a:solidFill>
              </a:rPr>
              <a:t>21〜25コマ</a:t>
            </a:r>
            <a:endParaRPr lang="en-US" sz="1300" dirty="0"/>
          </a:p>
        </p:txBody>
      </p:sp>
      <p:sp>
        <p:nvSpPr>
          <p:cNvPr id="9" name="工程_納品"/>
          <p:cNvSpPr txBox="1"/>
          <p:nvPr/>
        </p:nvSpPr>
        <p:spPr>
          <a:xfrm>
            <a:off x="6335486" y="1325880"/>
            <a:ext cx="1139081" cy="822960"/>
          </a:xfrm>
          <a:prstGeom prst="homePlate">
            <a:avLst/>
          </a:prstGeom>
          <a:solidFill>
            <a:srgbClr val="D9A43B"/>
          </a:solidFill>
          <a:ln>
            <a:solidFill>
              <a:srgbClr val="D9A43B"/>
            </a:solidFill>
          </a:ln>
        </p:spPr>
        <p:txBody>
          <a:bodyPr wrap="square" lIns="0" tIns="0" rIns="0" bIns="0" rtlCol="0" anchor="ctr"/>
          <a:lstStyle/>
          <a:p>
            <a:pPr algn="ctr" indent="0" marL="0">
              <a:buNone/>
            </a:pPr>
            <a:r>
              <a:rPr lang="en-US" sz="1300" b="1" dirty="0">
                <a:solidFill>
                  <a:srgbClr val="FFFFFF"/>
                </a:solidFill>
              </a:rPr>
              <a:t>納品</a:t>
            </a:r>
            <a:endParaRPr lang="en-US" sz="1300" dirty="0"/>
          </a:p>
          <a:p>
            <a:pPr algn="ctr" indent="0" marL="0">
              <a:buNone/>
            </a:pPr>
            <a:r>
              <a:rPr lang="en-US" sz="1000" dirty="0">
                <a:solidFill>
                  <a:srgbClr val="FFFFFF"/>
                </a:solidFill>
              </a:rPr>
              <a:t>26コマ</a:t>
            </a:r>
            <a:endParaRPr lang="en-US" sz="1300" dirty="0"/>
          </a:p>
        </p:txBody>
      </p:sp>
      <p:sp>
        <p:nvSpPr>
          <p:cNvPr id="10" name="工程_発表"/>
          <p:cNvSpPr txBox="1"/>
          <p:nvPr/>
        </p:nvSpPr>
        <p:spPr>
          <a:xfrm>
            <a:off x="7511143" y="1325880"/>
            <a:ext cx="1139081" cy="822960"/>
          </a:xfrm>
          <a:prstGeom prst="homePlate">
            <a:avLst/>
          </a:prstGeom>
          <a:solidFill>
            <a:srgbClr val="C2410C"/>
          </a:solidFill>
          <a:ln>
            <a:solidFill>
              <a:srgbClr val="C2410C"/>
            </a:solidFill>
          </a:ln>
        </p:spPr>
        <p:txBody>
          <a:bodyPr wrap="square" lIns="0" tIns="0" rIns="0" bIns="0" rtlCol="0" anchor="ctr"/>
          <a:lstStyle/>
          <a:p>
            <a:pPr algn="ctr" indent="0" marL="0">
              <a:buNone/>
            </a:pPr>
            <a:r>
              <a:rPr lang="en-US" sz="1300" b="1" dirty="0">
                <a:solidFill>
                  <a:srgbClr val="FFFFFF"/>
                </a:solidFill>
              </a:rPr>
              <a:t>発表</a:t>
            </a:r>
            <a:endParaRPr lang="en-US" sz="1300" dirty="0"/>
          </a:p>
          <a:p>
            <a:pPr algn="ctr" indent="0" marL="0">
              <a:buNone/>
            </a:pPr>
            <a:r>
              <a:rPr lang="en-US" sz="1000" dirty="0">
                <a:solidFill>
                  <a:srgbClr val="FFFFFF"/>
                </a:solidFill>
              </a:rPr>
              <a:t>27〜30コマ</a:t>
            </a:r>
            <a:endParaRPr lang="en-US" sz="1300" dirty="0"/>
          </a:p>
        </p:txBody>
      </p:sp>
      <p:sp>
        <p:nvSpPr>
          <p:cNvPr id="11" name="成果物_背景"/>
          <p:cNvSpPr/>
          <p:nvPr/>
        </p:nvSpPr>
        <p:spPr>
          <a:xfrm>
            <a:off x="457200" y="2606040"/>
            <a:ext cx="4023360" cy="2011680"/>
          </a:xfrm>
          <a:prstGeom prst="roundRect">
            <a:avLst>
              <a:gd name="adj" fmla="val 3636"/>
            </a:avLst>
          </a:prstGeom>
          <a:solidFill>
            <a:srgbClr val="EEF4F5"/>
          </a:solidFill>
          <a:ln w="12700">
            <a:solidFill>
              <a:srgbClr val="EEF4F5"/>
            </a:solidFill>
            <a:prstDash val="solid"/>
          </a:ln>
        </p:spPr>
      </p:sp>
      <p:sp>
        <p:nvSpPr>
          <p:cNvPr id="12" name="成果物_見出し"/>
          <p:cNvSpPr txBox="1"/>
          <p:nvPr/>
        </p:nvSpPr>
        <p:spPr>
          <a:xfrm>
            <a:off x="59436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主な成果物</a:t>
            </a:r>
            <a:endParaRPr lang="en-US" sz="1400" dirty="0"/>
          </a:p>
        </p:txBody>
      </p:sp>
      <p:sp>
        <p:nvSpPr>
          <p:cNvPr id="13" name="成果物_本文"/>
          <p:cNvSpPr txBox="1"/>
          <p:nvPr/>
        </p:nvSpPr>
        <p:spPr>
          <a:xfrm>
            <a:off x="594360" y="3044952"/>
            <a:ext cx="3749040" cy="14813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分析：ユースケース図・画面遷移図</a:t>
            </a:r>
            <a:endParaRPr lang="en-US" sz="1200" dirty="0"/>
          </a:p>
          <a:p>
            <a:pPr marL="342900" indent="-342900">
              <a:spcAft>
                <a:spcPts val="300"/>
              </a:spcAft>
              <a:buSzPct val="100000"/>
              <a:buChar char="•"/>
            </a:pPr>
            <a:r>
              <a:rPr lang="en-US" sz="1200" dirty="0">
                <a:solidFill>
                  <a:srgbClr val="1F2933"/>
                </a:solidFill>
              </a:rPr>
              <a:t>設計：シーケンス図・クラス図・画面設計書</a:t>
            </a:r>
            <a:endParaRPr lang="en-US" sz="1200" dirty="0"/>
          </a:p>
          <a:p>
            <a:pPr marL="342900" indent="-342900">
              <a:spcAft>
                <a:spcPts val="300"/>
              </a:spcAft>
              <a:buSzPct val="100000"/>
              <a:buChar char="•"/>
            </a:pPr>
            <a:r>
              <a:rPr lang="en-US" sz="1200" dirty="0">
                <a:solidFill>
                  <a:srgbClr val="1F2933"/>
                </a:solidFill>
              </a:rPr>
              <a:t>実装：ソースコード・DB作成SQL</a:t>
            </a:r>
            <a:endParaRPr lang="en-US" sz="1200" dirty="0"/>
          </a:p>
          <a:p>
            <a:pPr marL="342900" indent="-342900">
              <a:spcAft>
                <a:spcPts val="300"/>
              </a:spcAft>
              <a:buSzPct val="100000"/>
              <a:buChar char="•"/>
            </a:pPr>
            <a:r>
              <a:rPr lang="en-US" sz="1200" dirty="0">
                <a:solidFill>
                  <a:srgbClr val="1F2933"/>
                </a:solidFill>
              </a:rPr>
              <a:t>テスト：テスト仕様書兼結果報告書</a:t>
            </a:r>
            <a:endParaRPr lang="en-US" sz="1200" dirty="0"/>
          </a:p>
          <a:p>
            <a:pPr marL="342900" indent="-342900">
              <a:spcAft>
                <a:spcPts val="300"/>
              </a:spcAft>
              <a:buSzPct val="100000"/>
              <a:buChar char="•"/>
            </a:pPr>
            <a:r>
              <a:rPr lang="en-US" sz="1200" dirty="0">
                <a:solidFill>
                  <a:srgbClr val="1F2933"/>
                </a:solidFill>
              </a:rPr>
              <a:t>管理：WBS／進捗管理表</a:t>
            </a:r>
            <a:endParaRPr lang="en-US" sz="1200" dirty="0"/>
          </a:p>
        </p:txBody>
      </p:sp>
      <p:sp>
        <p:nvSpPr>
          <p:cNvPr id="14" name="役割分担_背景"/>
          <p:cNvSpPr/>
          <p:nvPr/>
        </p:nvSpPr>
        <p:spPr>
          <a:xfrm>
            <a:off x="4663440" y="2606040"/>
            <a:ext cx="4023360" cy="2011680"/>
          </a:xfrm>
          <a:prstGeom prst="roundRect">
            <a:avLst>
              <a:gd name="adj" fmla="val 3636"/>
            </a:avLst>
          </a:prstGeom>
          <a:solidFill>
            <a:srgbClr val="EEF4F5"/>
          </a:solidFill>
          <a:ln w="12700">
            <a:solidFill>
              <a:srgbClr val="EEF4F5"/>
            </a:solidFill>
            <a:prstDash val="solid"/>
          </a:ln>
        </p:spPr>
      </p:sp>
      <p:sp>
        <p:nvSpPr>
          <p:cNvPr id="15" name="役割分担_見出し"/>
          <p:cNvSpPr txBox="1"/>
          <p:nvPr/>
        </p:nvSpPr>
        <p:spPr>
          <a:xfrm>
            <a:off x="480060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役割分担</a:t>
            </a:r>
            <a:endParaRPr lang="en-US" sz="1400" dirty="0"/>
          </a:p>
        </p:txBody>
      </p:sp>
      <p:sp>
        <p:nvSpPr>
          <p:cNvPr id="16" name="役割分担_本文"/>
          <p:cNvSpPr txBox="1"/>
          <p:nvPr/>
        </p:nvSpPr>
        <p:spPr>
          <a:xfrm>
            <a:off x="4800600" y="3063240"/>
            <a:ext cx="3749040" cy="1463040"/>
          </a:xfrm>
          <a:prstGeom prst="rect">
            <a:avLst/>
          </a:prstGeom>
          <a:noFill/>
          <a:ln/>
        </p:spPr>
        <p:txBody>
          <a:bodyPr wrap="square" lIns="0" tIns="0" rIns="0" bIns="0" rtlCol="0" anchor="t"/>
          <a:lstStyle/>
          <a:p>
            <a:pPr indent="0" marL="0">
              <a:spcAft>
                <a:spcPts val="400"/>
              </a:spcAft>
              <a:buNone/>
            </a:pPr>
            <a:r>
              <a:rPr lang="en-US" sz="1300" b="1" dirty="0">
                <a:solidFill>
                  <a:srgbClr val="0B3C49"/>
                </a:solidFill>
              </a:rPr>
              <a:t>新井真佐斗</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リーダー／班員のレビュー</a:t>
            </a:r>
            <a:endParaRPr lang="en-US" sz="1300" dirty="0"/>
          </a:p>
          <a:p>
            <a:pPr indent="0" marL="0">
              <a:spcAft>
                <a:spcPts val="400"/>
              </a:spcAft>
              <a:buNone/>
            </a:pPr>
            <a:r>
              <a:rPr lang="en-US" sz="1300" b="1" dirty="0">
                <a:solidFill>
                  <a:srgbClr val="0B3C49"/>
                </a:solidFill>
              </a:rPr>
              <a:t>栗原聡汰</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メンバー補助</a:t>
            </a:r>
            <a:endParaRPr lang="en-US" sz="1300" dirty="0"/>
          </a:p>
          <a:p>
            <a:pPr indent="0" marL="0">
              <a:spcAft>
                <a:spcPts val="400"/>
              </a:spcAft>
              <a:buNone/>
            </a:pPr>
            <a:r>
              <a:rPr lang="en-US" sz="1300" b="1" dirty="0">
                <a:solidFill>
                  <a:srgbClr val="0B3C49"/>
                </a:solidFill>
              </a:rPr>
              <a:t>川端はると</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従業員登録</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デモンストレーション：基本ルート</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Web画面を表示して、ログインからログアウトまでを順に操作します</a:t>
            </a:r>
            <a:endParaRPr lang="en-US" sz="1300" dirty="0"/>
          </a:p>
        </p:txBody>
      </p:sp>
      <p:sp>
        <p:nvSpPr>
          <p:cNvPr id="4" name="番号バッジ1"/>
          <p:cNvSpPr txBox="1"/>
          <p:nvPr/>
        </p:nvSpPr>
        <p:spPr>
          <a:xfrm>
            <a:off x="457200" y="131673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デモ手順名1"/>
          <p:cNvSpPr txBox="1"/>
          <p:nvPr/>
        </p:nvSpPr>
        <p:spPr>
          <a:xfrm>
            <a:off x="960120" y="1261872"/>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ログイン</a:t>
            </a:r>
            <a:endParaRPr lang="en-US" sz="1500" dirty="0"/>
          </a:p>
        </p:txBody>
      </p:sp>
      <p:sp>
        <p:nvSpPr>
          <p:cNvPr id="6" name="デモ手順説明1"/>
          <p:cNvSpPr txBox="1"/>
          <p:nvPr/>
        </p:nvSpPr>
        <p:spPr>
          <a:xfrm>
            <a:off x="2286000" y="1261872"/>
            <a:ext cx="6400800" cy="502920"/>
          </a:xfrm>
          <a:prstGeom prst="rect">
            <a:avLst/>
          </a:prstGeom>
          <a:noFill/>
          <a:ln/>
        </p:spPr>
        <p:txBody>
          <a:bodyPr wrap="square" lIns="0" tIns="0" rIns="0" bIns="0" rtlCol="0" anchor="ctr"/>
          <a:lstStyle/>
          <a:p>
            <a:pPr indent="0" marL="0">
              <a:buNone/>
            </a:pPr>
            <a:r>
              <a:rPr lang="en-US" sz="1200" dirty="0">
                <a:solidFill>
                  <a:srgbClr val="1F2933"/>
                </a:solidFill>
              </a:rPr>
              <a:t>誤ったID／パスワード → エラー画面、正しい値 → メニュー画面（「ようこそ、○○さん」）</a:t>
            </a:r>
            <a:endParaRPr lang="en-US" sz="1200" dirty="0"/>
          </a:p>
        </p:txBody>
      </p:sp>
      <p:sp>
        <p:nvSpPr>
          <p:cNvPr id="7" name="番号バッジ2"/>
          <p:cNvSpPr txBox="1"/>
          <p:nvPr/>
        </p:nvSpPr>
        <p:spPr>
          <a:xfrm>
            <a:off x="457200" y="192024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デモ手順名2"/>
          <p:cNvSpPr txBox="1"/>
          <p:nvPr/>
        </p:nvSpPr>
        <p:spPr>
          <a:xfrm>
            <a:off x="960120" y="1865376"/>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登録</a:t>
            </a:r>
            <a:endParaRPr lang="en-US" sz="1500" dirty="0"/>
          </a:p>
        </p:txBody>
      </p:sp>
      <p:sp>
        <p:nvSpPr>
          <p:cNvPr id="9" name="デモ手順説明2"/>
          <p:cNvSpPr txBox="1"/>
          <p:nvPr/>
        </p:nvSpPr>
        <p:spPr>
          <a:xfrm>
            <a:off x="2286000" y="1865376"/>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→［従業員登録］→ 入力（性別・所属はプルダウン、日付はカレンダー）→ 登録完了画面</a:t>
            </a:r>
            <a:endParaRPr lang="en-US" sz="1200" dirty="0"/>
          </a:p>
        </p:txBody>
      </p:sp>
      <p:sp>
        <p:nvSpPr>
          <p:cNvPr id="10" name="番号バッジ3"/>
          <p:cNvSpPr txBox="1"/>
          <p:nvPr/>
        </p:nvSpPr>
        <p:spPr>
          <a:xfrm>
            <a:off x="457200" y="2523744"/>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デモ手順名3"/>
          <p:cNvSpPr txBox="1"/>
          <p:nvPr/>
        </p:nvSpPr>
        <p:spPr>
          <a:xfrm>
            <a:off x="960120" y="2468880"/>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一覧表示</a:t>
            </a:r>
            <a:endParaRPr lang="en-US" sz="1500" dirty="0"/>
          </a:p>
        </p:txBody>
      </p:sp>
      <p:sp>
        <p:nvSpPr>
          <p:cNvPr id="12" name="デモ手順説明3"/>
          <p:cNvSpPr txBox="1"/>
          <p:nvPr/>
        </p:nvSpPr>
        <p:spPr>
          <a:xfrm>
            <a:off x="2286000" y="2468880"/>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→［従業員一覧］→ 今登録した従業員が従業員コード順に表示されることを確認</a:t>
            </a:r>
            <a:endParaRPr lang="en-US" sz="1200" dirty="0"/>
          </a:p>
        </p:txBody>
      </p:sp>
      <p:sp>
        <p:nvSpPr>
          <p:cNvPr id="13" name="番号バッジ4"/>
          <p:cNvSpPr txBox="1"/>
          <p:nvPr/>
        </p:nvSpPr>
        <p:spPr>
          <a:xfrm>
            <a:off x="457200" y="31272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デモ手順名4"/>
          <p:cNvSpPr txBox="1"/>
          <p:nvPr/>
        </p:nvSpPr>
        <p:spPr>
          <a:xfrm>
            <a:off x="960120" y="3072384"/>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削除</a:t>
            </a:r>
            <a:endParaRPr lang="en-US" sz="1500" dirty="0"/>
          </a:p>
        </p:txBody>
      </p:sp>
      <p:sp>
        <p:nvSpPr>
          <p:cNvPr id="15" name="デモ手順説明4"/>
          <p:cNvSpPr txBox="1"/>
          <p:nvPr/>
        </p:nvSpPr>
        <p:spPr>
          <a:xfrm>
            <a:off x="2286000" y="3072384"/>
            <a:ext cx="6400800" cy="502920"/>
          </a:xfrm>
          <a:prstGeom prst="rect">
            <a:avLst/>
          </a:prstGeom>
          <a:noFill/>
          <a:ln/>
        </p:spPr>
        <p:txBody>
          <a:bodyPr wrap="square" lIns="0" tIns="0" rIns="0" bIns="0" rtlCol="0" anchor="ctr"/>
          <a:lstStyle/>
          <a:p>
            <a:pPr indent="0" marL="0">
              <a:buNone/>
            </a:pPr>
            <a:r>
              <a:rPr lang="en-US" sz="1200" dirty="0">
                <a:solidFill>
                  <a:srgbClr val="1F2933"/>
                </a:solidFill>
              </a:rPr>
              <a:t>一覧で従業員を選択 →［削除］→ 確認ダイアログでOK → 削除完了画面 → 一覧から消えたことを確認</a:t>
            </a:r>
            <a:endParaRPr lang="en-US" sz="1200" dirty="0"/>
          </a:p>
        </p:txBody>
      </p:sp>
      <p:sp>
        <p:nvSpPr>
          <p:cNvPr id="16" name="番号バッジ5"/>
          <p:cNvSpPr txBox="1"/>
          <p:nvPr/>
        </p:nvSpPr>
        <p:spPr>
          <a:xfrm>
            <a:off x="457200" y="3730752"/>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デモ手順名5"/>
          <p:cNvSpPr txBox="1"/>
          <p:nvPr/>
        </p:nvSpPr>
        <p:spPr>
          <a:xfrm>
            <a:off x="960120" y="3675888"/>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ログアウト</a:t>
            </a:r>
            <a:endParaRPr lang="en-US" sz="1500" dirty="0"/>
          </a:p>
        </p:txBody>
      </p:sp>
      <p:sp>
        <p:nvSpPr>
          <p:cNvPr id="18" name="デモ手順説明5"/>
          <p:cNvSpPr txBox="1"/>
          <p:nvPr/>
        </p:nvSpPr>
        <p:spPr>
          <a:xfrm>
            <a:off x="2286000" y="3675888"/>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→［ログアウト］→ ログアウト画面 → ログイン画面へ戻る</a:t>
            </a:r>
            <a:endParaRPr lang="en-US" sz="1200" dirty="0"/>
          </a:p>
        </p:txBody>
      </p:sp>
      <p:sp>
        <p:nvSpPr>
          <p:cNvPr id="19" name="デモ環境"/>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b="1" dirty="0">
                <a:solidFill>
                  <a:srgbClr val="0B3C49"/>
                </a:solidFill>
              </a:rPr>
              <a:t>URL：</a:t>
            </a:r>
            <a:pPr indent="0" marL="0">
              <a:buNone/>
            </a:pPr>
            <a:r>
              <a:rPr lang="en-US" sz="1200" dirty="0">
                <a:solidFill>
                  <a:srgbClr val="1F2933"/>
                </a:solidFill>
              </a:rPr>
              <a:t>http://localhost:8080/empsys/　</a:t>
            </a:r>
            <a:pPr indent="0" marL="0">
              <a:buNone/>
            </a:pPr>
            <a:r>
              <a:rPr lang="en-US" sz="1200" b="1" dirty="0">
                <a:solidFill>
                  <a:srgbClr val="0B3C49"/>
                </a:solidFill>
              </a:rPr>
              <a:t>ログインID：</a:t>
            </a:r>
            <a:pPr indent="0" marL="0">
              <a:buNone/>
            </a:pPr>
            <a:r>
              <a:rPr lang="en-US" sz="1200" dirty="0">
                <a:solidFill>
                  <a:srgbClr val="1F2933"/>
                </a:solidFill>
              </a:rPr>
              <a:t>metro</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デモンストレーション：追加課題</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要件定義書の「余力があれば」「追加システム要件」から実装した機能</a:t>
            </a:r>
            <a:endParaRPr lang="en-US" sz="1300" dirty="0"/>
          </a:p>
        </p:txBody>
      </p:sp>
      <p:sp>
        <p:nvSpPr>
          <p:cNvPr id="4" name="追加課題1_背景"/>
          <p:cNvSpPr/>
          <p:nvPr/>
        </p:nvSpPr>
        <p:spPr>
          <a:xfrm>
            <a:off x="457200" y="1280160"/>
            <a:ext cx="4023360" cy="2103120"/>
          </a:xfrm>
          <a:prstGeom prst="roundRect">
            <a:avLst>
              <a:gd name="adj" fmla="val 3478"/>
            </a:avLst>
          </a:prstGeom>
          <a:solidFill>
            <a:srgbClr val="EEF4F5"/>
          </a:solidFill>
          <a:ln w="12700">
            <a:solidFill>
              <a:srgbClr val="EEF4F5"/>
            </a:solidFill>
            <a:prstDash val="solid"/>
          </a:ln>
        </p:spPr>
      </p:sp>
      <p:sp>
        <p:nvSpPr>
          <p:cNvPr id="5" name="追加課題1_見出し"/>
          <p:cNvSpPr txBox="1"/>
          <p:nvPr/>
        </p:nvSpPr>
        <p:spPr>
          <a:xfrm>
            <a:off x="59436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① 従業員情報更新</a:t>
            </a:r>
            <a:endParaRPr lang="en-US" sz="1400" dirty="0"/>
          </a:p>
        </p:txBody>
      </p:sp>
      <p:sp>
        <p:nvSpPr>
          <p:cNvPr id="6" name="追加課題1_本文"/>
          <p:cNvSpPr txBox="1"/>
          <p:nvPr/>
        </p:nvSpPr>
        <p:spPr>
          <a:xfrm>
            <a:off x="59436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一覧で従業員を選択 →［従業員更新］</a:t>
            </a:r>
            <a:endParaRPr lang="en-US" sz="1200" dirty="0"/>
          </a:p>
          <a:p>
            <a:pPr marL="342900" indent="-342900">
              <a:spcAft>
                <a:spcPts val="300"/>
              </a:spcAft>
              <a:buSzPct val="100000"/>
              <a:buChar char="•"/>
            </a:pPr>
            <a:r>
              <a:rPr lang="en-US" sz="1200" dirty="0">
                <a:solidFill>
                  <a:srgbClr val="1F2933"/>
                </a:solidFill>
              </a:rPr>
              <a:t>更新画面に選択した従業員の情報が初期表示される</a:t>
            </a:r>
            <a:endParaRPr lang="en-US" sz="1200" dirty="0"/>
          </a:p>
          <a:p>
            <a:pPr marL="342900" indent="-342900">
              <a:spcAft>
                <a:spcPts val="300"/>
              </a:spcAft>
              <a:buSzPct val="100000"/>
              <a:buChar char="•"/>
            </a:pPr>
            <a:r>
              <a:rPr lang="en-US" sz="1200" dirty="0">
                <a:solidFill>
                  <a:srgbClr val="1F2933"/>
                </a:solidFill>
              </a:rPr>
              <a:t>従業員コードは変更不可</a:t>
            </a:r>
            <a:endParaRPr lang="en-US" sz="1200" dirty="0"/>
          </a:p>
          <a:p>
            <a:pPr marL="342900" indent="-342900">
              <a:spcAft>
                <a:spcPts val="300"/>
              </a:spcAft>
              <a:buSzPct val="100000"/>
              <a:buChar char="•"/>
            </a:pPr>
            <a:r>
              <a:rPr lang="en-US" sz="1200" dirty="0">
                <a:solidFill>
                  <a:srgbClr val="1F2933"/>
                </a:solidFill>
              </a:rPr>
              <a:t>更新ボタン → 更新完了画面 → 一覧で変更を確認</a:t>
            </a:r>
            <a:endParaRPr lang="en-US" sz="1200" dirty="0"/>
          </a:p>
        </p:txBody>
      </p:sp>
      <p:sp>
        <p:nvSpPr>
          <p:cNvPr id="7" name="追加課題2_背景"/>
          <p:cNvSpPr/>
          <p:nvPr/>
        </p:nvSpPr>
        <p:spPr>
          <a:xfrm>
            <a:off x="4663440" y="1280160"/>
            <a:ext cx="4023360" cy="2103120"/>
          </a:xfrm>
          <a:prstGeom prst="roundRect">
            <a:avLst>
              <a:gd name="adj" fmla="val 3478"/>
            </a:avLst>
          </a:prstGeom>
          <a:solidFill>
            <a:srgbClr val="EEF4F5"/>
          </a:solidFill>
          <a:ln w="12700">
            <a:solidFill>
              <a:srgbClr val="EEF4F5"/>
            </a:solidFill>
            <a:prstDash val="solid"/>
          </a:ln>
        </p:spPr>
      </p:sp>
      <p:sp>
        <p:nvSpPr>
          <p:cNvPr id="8" name="追加課題2_見出し"/>
          <p:cNvSpPr txBox="1"/>
          <p:nvPr/>
        </p:nvSpPr>
        <p:spPr>
          <a:xfrm>
            <a:off x="480060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② ユーザ情報登録</a:t>
            </a:r>
            <a:endParaRPr lang="en-US" sz="1400" dirty="0"/>
          </a:p>
        </p:txBody>
      </p:sp>
      <p:sp>
        <p:nvSpPr>
          <p:cNvPr id="9" name="追加課題2_本文"/>
          <p:cNvSpPr txBox="1"/>
          <p:nvPr/>
        </p:nvSpPr>
        <p:spPr>
          <a:xfrm>
            <a:off x="480060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メニュー →［システム利用者登録］</a:t>
            </a:r>
            <a:endParaRPr lang="en-US" sz="1200" dirty="0"/>
          </a:p>
          <a:p>
            <a:pPr marL="342900" indent="-342900">
              <a:spcAft>
                <a:spcPts val="300"/>
              </a:spcAft>
              <a:buSzPct val="100000"/>
              <a:buChar char="•"/>
            </a:pPr>
            <a:r>
              <a:rPr lang="en-US" sz="1200" dirty="0">
                <a:solidFill>
                  <a:srgbClr val="1F2933"/>
                </a:solidFill>
              </a:rPr>
              <a:t>ユーザID・パスワードを入力して登録</a:t>
            </a:r>
            <a:endParaRPr lang="en-US" sz="1200" dirty="0"/>
          </a:p>
          <a:p>
            <a:pPr marL="342900" indent="-342900">
              <a:spcAft>
                <a:spcPts val="300"/>
              </a:spcAft>
              <a:buSzPct val="100000"/>
              <a:buChar char="•"/>
            </a:pPr>
            <a:r>
              <a:rPr lang="en-US" sz="1200" dirty="0">
                <a:solidFill>
                  <a:srgbClr val="1F2933"/>
                </a:solidFill>
              </a:rPr>
              <a:t>登録完了画面を確認</a:t>
            </a:r>
            <a:endParaRPr lang="en-US" sz="1200" dirty="0"/>
          </a:p>
          <a:p>
            <a:pPr marL="342900" indent="-342900">
              <a:spcAft>
                <a:spcPts val="300"/>
              </a:spcAft>
              <a:buSzPct val="100000"/>
              <a:buChar char="•"/>
            </a:pPr>
            <a:r>
              <a:rPr lang="en-US" sz="1200" dirty="0">
                <a:solidFill>
                  <a:srgbClr val="1F2933"/>
                </a:solidFill>
              </a:rPr>
              <a:t>ログアウト後、登録したユーザでログインできることを確認</a:t>
            </a:r>
            <a:endParaRPr lang="en-US" sz="1200" dirty="0"/>
          </a:p>
        </p:txBody>
      </p:sp>
      <p:sp>
        <p:nvSpPr>
          <p:cNvPr id="10" name="見どころ_見出し"/>
          <p:cNvSpPr txBox="1"/>
          <p:nvPr/>
        </p:nvSpPr>
        <p:spPr>
          <a:xfrm>
            <a:off x="457200" y="3566160"/>
            <a:ext cx="8229600" cy="274320"/>
          </a:xfrm>
          <a:prstGeom prst="rect">
            <a:avLst/>
          </a:prstGeom>
          <a:noFill/>
          <a:ln/>
        </p:spPr>
        <p:txBody>
          <a:bodyPr wrap="square" lIns="0" tIns="0" rIns="0" bIns="0" rtlCol="0" anchor="ctr"/>
          <a:lstStyle/>
          <a:p>
            <a:pPr indent="0" marL="0">
              <a:buNone/>
            </a:pPr>
            <a:r>
              <a:rPr lang="en-US" sz="1300" b="1" dirty="0">
                <a:solidFill>
                  <a:srgbClr val="0F7C8C"/>
                </a:solidFill>
              </a:rPr>
              <a:t>見どころ（ここを見てほしい点）</a:t>
            </a:r>
            <a:endParaRPr lang="en-US" sz="1300" dirty="0"/>
          </a:p>
        </p:txBody>
      </p:sp>
      <p:sp>
        <p:nvSpPr>
          <p:cNvPr id="11" name="見どころ_本文"/>
          <p:cNvSpPr txBox="1"/>
          <p:nvPr/>
        </p:nvSpPr>
        <p:spPr>
          <a:xfrm>
            <a:off x="457200" y="3886200"/>
            <a:ext cx="8229600" cy="777240"/>
          </a:xfrm>
          <a:prstGeom prst="rect">
            <a:avLst/>
          </a:prstGeom>
          <a:solidFill>
            <a:srgbClr val="EEF4F5"/>
          </a:solidFill>
          <a:ln>
            <a:solidFill>
              <a:srgbClr val="EEF4F5"/>
            </a:solidFill>
          </a:ln>
        </p:spPr>
        <p:txBody>
          <a:bodyPr wrap="square" lIns="1524" tIns="1524" rIns="1524" bIns="1524" rtlCol="0" anchor="t"/>
          <a:lstStyle/>
          <a:p>
            <a:pPr indent="0" marL="0">
              <a:buNone/>
            </a:pPr>
            <a:r>
              <a:rPr lang="en-US" sz="1400" dirty="0">
                <a:solidFill>
                  <a:srgbClr val="1F2933"/>
                </a:solidFill>
              </a:rPr>
              <a:t>更新画面を開いた時点で現在の値が入っているので、変更したい項目だけ直せば済む</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学んだこと</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要求分析からテスト・納品まで、ひと通りの開発工程を経験して学んだこと</a:t>
            </a:r>
            <a:endParaRPr lang="en-US" sz="1300" dirty="0"/>
          </a:p>
        </p:txBody>
      </p:sp>
      <p:sp>
        <p:nvSpPr>
          <p:cNvPr id="4" name="学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5" name="番号バッジ1"/>
          <p:cNvSpPr txBox="1"/>
          <p:nvPr/>
        </p:nvSpPr>
        <p:spPr>
          <a:xfrm>
            <a:off x="640080"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学び見出し1"/>
          <p:cNvSpPr txBox="1"/>
          <p:nvPr/>
        </p:nvSpPr>
        <p:spPr>
          <a:xfrm>
            <a:off x="1143000"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開発工程</a:t>
            </a:r>
            <a:endParaRPr lang="en-US" sz="1500" dirty="0"/>
          </a:p>
        </p:txBody>
      </p:sp>
      <p:sp>
        <p:nvSpPr>
          <p:cNvPr id="7" name="学び内容1"/>
          <p:cNvSpPr txBox="1"/>
          <p:nvPr/>
        </p:nvSpPr>
        <p:spPr>
          <a:xfrm>
            <a:off x="640080"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仕様書と実際の実装における差異を早期に見つけ、テスト仕様書や記録へ確実に反映させる工程管理の重要性を学んだ。</a:t>
            </a:r>
            <a:endParaRPr lang="en-US" sz="1300" dirty="0"/>
          </a:p>
        </p:txBody>
      </p:sp>
      <p:sp>
        <p:nvSpPr>
          <p:cNvPr id="8" name="学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9" name="番号バッジ2"/>
          <p:cNvSpPr txBox="1"/>
          <p:nvPr/>
        </p:nvSpPr>
        <p:spPr>
          <a:xfrm>
            <a:off x="3447288"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学び見出し2"/>
          <p:cNvSpPr txBox="1"/>
          <p:nvPr/>
        </p:nvSpPr>
        <p:spPr>
          <a:xfrm>
            <a:off x="3950208"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技術</a:t>
            </a:r>
            <a:endParaRPr lang="en-US" sz="1500" dirty="0"/>
          </a:p>
        </p:txBody>
      </p:sp>
      <p:sp>
        <p:nvSpPr>
          <p:cNvPr id="11" name="学び内容2"/>
          <p:cNvSpPr txBox="1"/>
          <p:nvPr/>
        </p:nvSpPr>
        <p:spPr>
          <a:xfrm>
            <a:off x="3447288"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Servlet・JSP・DAO・Modelによるデータ連携やJDBCでのDB操作に加え、想定外のエラーを防ぐための例外処理やnullチェックの重要性を学んだ。</a:t>
            </a:r>
            <a:endParaRPr lang="en-US" sz="1300" dirty="0"/>
          </a:p>
        </p:txBody>
      </p:sp>
      <p:sp>
        <p:nvSpPr>
          <p:cNvPr id="12" name="学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3" name="番号バッジ3"/>
          <p:cNvSpPr txBox="1"/>
          <p:nvPr/>
        </p:nvSpPr>
        <p:spPr>
          <a:xfrm>
            <a:off x="6254496"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学び見出し3"/>
          <p:cNvSpPr txBox="1"/>
          <p:nvPr/>
        </p:nvSpPr>
        <p:spPr>
          <a:xfrm>
            <a:off x="6757416"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チーム開発</a:t>
            </a:r>
            <a:endParaRPr lang="en-US" sz="1500" dirty="0"/>
          </a:p>
        </p:txBody>
      </p:sp>
      <p:sp>
        <p:nvSpPr>
          <p:cNvPr id="15" name="学び内容3"/>
          <p:cNvSpPr txBox="1"/>
          <p:nvPr/>
        </p:nvSpPr>
        <p:spPr>
          <a:xfrm>
            <a:off x="6254496"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メンバーで定期的にレビューを行い、一部の進行が大きく遅れないようにした</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苦労したこと・難しかったこと</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「何が起きたか → どう解決したか」の形でまとめました</a:t>
            </a:r>
            <a:endParaRPr lang="en-US" sz="1300" dirty="0"/>
          </a:p>
        </p:txBody>
      </p:sp>
      <p:sp>
        <p:nvSpPr>
          <p:cNvPr id="4" name="列見出し_問題"/>
          <p:cNvSpPr txBox="1"/>
          <p:nvPr/>
        </p:nvSpPr>
        <p:spPr>
          <a:xfrm>
            <a:off x="265176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何が起きたか</a:t>
            </a:r>
            <a:endParaRPr lang="en-US" sz="1200" dirty="0"/>
          </a:p>
        </p:txBody>
      </p:sp>
      <p:sp>
        <p:nvSpPr>
          <p:cNvPr id="5" name="列見出し_解決"/>
          <p:cNvSpPr txBox="1"/>
          <p:nvPr/>
        </p:nvSpPr>
        <p:spPr>
          <a:xfrm>
            <a:off x="576072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どう解決したか</a:t>
            </a:r>
            <a:endParaRPr lang="en-US" sz="1200" dirty="0"/>
          </a:p>
        </p:txBody>
      </p:sp>
      <p:sp>
        <p:nvSpPr>
          <p:cNvPr id="6" name="苦労背景1"/>
          <p:cNvSpPr/>
          <p:nvPr/>
        </p:nvSpPr>
        <p:spPr>
          <a:xfrm>
            <a:off x="457200" y="1627632"/>
            <a:ext cx="8229600" cy="914400"/>
          </a:xfrm>
          <a:prstGeom prst="roundRect">
            <a:avLst>
              <a:gd name="adj" fmla="val 8000"/>
            </a:avLst>
          </a:prstGeom>
          <a:solidFill>
            <a:srgbClr val="EEF4F5"/>
          </a:solidFill>
          <a:ln w="12700">
            <a:solidFill>
              <a:srgbClr val="EEF4F5"/>
            </a:solidFill>
            <a:prstDash val="solid"/>
          </a:ln>
        </p:spPr>
      </p:sp>
      <p:sp>
        <p:nvSpPr>
          <p:cNvPr id="7" name="番号バッジ1"/>
          <p:cNvSpPr txBox="1"/>
          <p:nvPr/>
        </p:nvSpPr>
        <p:spPr>
          <a:xfrm>
            <a:off x="594360" y="1892808"/>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苦労見出し1"/>
          <p:cNvSpPr txBox="1"/>
          <p:nvPr/>
        </p:nvSpPr>
        <p:spPr>
          <a:xfrm>
            <a:off x="1097280" y="1700784"/>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仕様書と実装の食い違い</a:t>
            </a:r>
            <a:endParaRPr lang="en-US" sz="1300" dirty="0"/>
          </a:p>
        </p:txBody>
      </p:sp>
      <p:sp>
        <p:nvSpPr>
          <p:cNvPr id="9" name="苦労内容1"/>
          <p:cNvSpPr txBox="1"/>
          <p:nvPr/>
        </p:nvSpPr>
        <p:spPr>
          <a:xfrm>
            <a:off x="2651760" y="1700784"/>
            <a:ext cx="2926080" cy="768096"/>
          </a:xfrm>
          <a:prstGeom prst="rect">
            <a:avLst/>
          </a:prstGeom>
          <a:noFill/>
          <a:ln/>
        </p:spPr>
        <p:txBody>
          <a:bodyPr wrap="square" lIns="0" tIns="0" rIns="0" bIns="0" rtlCol="0" anchor="ctr"/>
          <a:lstStyle/>
          <a:p>
            <a:pPr indent="0" marL="0">
              <a:buNone/>
            </a:pPr>
            <a:r>
              <a:rPr lang="en-US" sz="1100" dirty="0">
                <a:solidFill>
                  <a:srgbClr val="1F2933"/>
                </a:solidFill>
              </a:rPr>
              <a:t>URLのコンテキストルート（/emp_sys/ と /empsys/）や、氏名・フリガナの文字数上限が設計書と実装で違っていた</a:t>
            </a:r>
            <a:endParaRPr lang="en-US" sz="1100" dirty="0"/>
          </a:p>
        </p:txBody>
      </p:sp>
      <p:sp>
        <p:nvSpPr>
          <p:cNvPr id="10" name="苦労矢印1"/>
          <p:cNvSpPr/>
          <p:nvPr/>
        </p:nvSpPr>
        <p:spPr>
          <a:xfrm>
            <a:off x="5596128" y="1975104"/>
            <a:ext cx="146304" cy="219456"/>
          </a:xfrm>
          <a:prstGeom prst="rightArrow">
            <a:avLst/>
          </a:prstGeom>
          <a:solidFill>
            <a:srgbClr val="64748B"/>
          </a:solidFill>
          <a:ln w="12700">
            <a:solidFill>
              <a:srgbClr val="64748B"/>
            </a:solidFill>
            <a:prstDash val="solid"/>
          </a:ln>
        </p:spPr>
      </p:sp>
      <p:sp>
        <p:nvSpPr>
          <p:cNvPr id="11" name="苦労解決1"/>
          <p:cNvSpPr txBox="1"/>
          <p:nvPr/>
        </p:nvSpPr>
        <p:spPr>
          <a:xfrm>
            <a:off x="5760720" y="1700784"/>
            <a:ext cx="2834640" cy="768096"/>
          </a:xfrm>
          <a:prstGeom prst="rect">
            <a:avLst/>
          </a:prstGeom>
          <a:noFill/>
          <a:ln/>
        </p:spPr>
        <p:txBody>
          <a:bodyPr wrap="square" lIns="0" tIns="0" rIns="0" bIns="0" rtlCol="0" anchor="ctr"/>
          <a:lstStyle/>
          <a:p>
            <a:pPr indent="0" marL="0">
              <a:buNone/>
            </a:pPr>
            <a:r>
              <a:rPr lang="en-US" sz="1100" dirty="0">
                <a:solidFill>
                  <a:srgbClr val="1F2933"/>
                </a:solidFill>
              </a:rPr>
              <a:t>テスト結果の備考に差異を記録し、どちらを正とするかチームで決めた</a:t>
            </a:r>
            <a:endParaRPr lang="en-US" sz="1100" dirty="0"/>
          </a:p>
        </p:txBody>
      </p:sp>
      <p:sp>
        <p:nvSpPr>
          <p:cNvPr id="12" name="苦労背景2"/>
          <p:cNvSpPr/>
          <p:nvPr/>
        </p:nvSpPr>
        <p:spPr>
          <a:xfrm>
            <a:off x="457200" y="2651760"/>
            <a:ext cx="8229600" cy="914400"/>
          </a:xfrm>
          <a:prstGeom prst="roundRect">
            <a:avLst>
              <a:gd name="adj" fmla="val 8000"/>
            </a:avLst>
          </a:prstGeom>
          <a:solidFill>
            <a:srgbClr val="EEF4F5"/>
          </a:solidFill>
          <a:ln w="12700">
            <a:solidFill>
              <a:srgbClr val="EEF4F5"/>
            </a:solidFill>
            <a:prstDash val="solid"/>
          </a:ln>
        </p:spPr>
      </p:sp>
      <p:sp>
        <p:nvSpPr>
          <p:cNvPr id="13" name="番号バッジ2"/>
          <p:cNvSpPr txBox="1"/>
          <p:nvPr/>
        </p:nvSpPr>
        <p:spPr>
          <a:xfrm>
            <a:off x="594360" y="2916936"/>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苦労見出し2"/>
          <p:cNvSpPr txBox="1"/>
          <p:nvPr/>
        </p:nvSpPr>
        <p:spPr>
          <a:xfrm>
            <a:off x="1097280" y="2724912"/>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テスト項目にないエラーの発生</a:t>
            </a:r>
            <a:endParaRPr lang="en-US" sz="1300" dirty="0"/>
          </a:p>
        </p:txBody>
      </p:sp>
      <p:sp>
        <p:nvSpPr>
          <p:cNvPr id="15" name="苦労内容2"/>
          <p:cNvSpPr txBox="1"/>
          <p:nvPr/>
        </p:nvSpPr>
        <p:spPr>
          <a:xfrm>
            <a:off x="2651760" y="2724912"/>
            <a:ext cx="2926080" cy="768096"/>
          </a:xfrm>
          <a:prstGeom prst="rect">
            <a:avLst/>
          </a:prstGeom>
          <a:noFill/>
          <a:ln/>
        </p:spPr>
        <p:txBody>
          <a:bodyPr wrap="square" lIns="0" tIns="0" rIns="0" bIns="0" rtlCol="0" anchor="ctr"/>
          <a:lstStyle/>
          <a:p>
            <a:pPr indent="0" marL="0">
              <a:buNone/>
            </a:pPr>
            <a:r>
              <a:rPr lang="en-US" sz="1100" dirty="0">
                <a:solidFill>
                  <a:srgbClr val="1F2933"/>
                </a:solidFill>
              </a:rPr>
              <a:t>オリジナルのテストで従業員一覧画面の更新を確認したところ性別を無選択で登録し、それを更新しようとするとエラーがおきた</a:t>
            </a:r>
            <a:endParaRPr lang="en-US" sz="1100" dirty="0"/>
          </a:p>
        </p:txBody>
      </p:sp>
      <p:sp>
        <p:nvSpPr>
          <p:cNvPr id="16" name="苦労矢印2"/>
          <p:cNvSpPr/>
          <p:nvPr/>
        </p:nvSpPr>
        <p:spPr>
          <a:xfrm>
            <a:off x="5596128" y="2999232"/>
            <a:ext cx="146304" cy="219456"/>
          </a:xfrm>
          <a:prstGeom prst="rightArrow">
            <a:avLst/>
          </a:prstGeom>
          <a:solidFill>
            <a:srgbClr val="64748B"/>
          </a:solidFill>
          <a:ln w="12700">
            <a:solidFill>
              <a:srgbClr val="64748B"/>
            </a:solidFill>
            <a:prstDash val="solid"/>
          </a:ln>
        </p:spPr>
      </p:sp>
      <p:sp>
        <p:nvSpPr>
          <p:cNvPr id="17" name="苦労解決2"/>
          <p:cNvSpPr txBox="1"/>
          <p:nvPr/>
        </p:nvSpPr>
        <p:spPr>
          <a:xfrm>
            <a:off x="5760720" y="2724912"/>
            <a:ext cx="2834640" cy="768096"/>
          </a:xfrm>
          <a:prstGeom prst="rect">
            <a:avLst/>
          </a:prstGeom>
          <a:noFill/>
          <a:ln/>
        </p:spPr>
        <p:txBody>
          <a:bodyPr wrap="square" lIns="0" tIns="0" rIns="0" bIns="0" rtlCol="0" anchor="ctr"/>
          <a:lstStyle/>
          <a:p>
            <a:pPr indent="0" marL="0">
              <a:buNone/>
            </a:pPr>
            <a:r>
              <a:rPr lang="en-US" sz="1100" dirty="0">
                <a:solidFill>
                  <a:srgbClr val="1F2933"/>
                </a:solidFill>
              </a:rPr>
              <a:t>ifでnullチェックを行い、安全に例外を回避した。</a:t>
            </a:r>
            <a:endParaRPr lang="en-US" sz="1100" dirty="0"/>
          </a:p>
        </p:txBody>
      </p:sp>
      <p:sp>
        <p:nvSpPr>
          <p:cNvPr id="18" name="苦労背景3"/>
          <p:cNvSpPr/>
          <p:nvPr/>
        </p:nvSpPr>
        <p:spPr>
          <a:xfrm>
            <a:off x="457200" y="3675888"/>
            <a:ext cx="8229600" cy="914400"/>
          </a:xfrm>
          <a:prstGeom prst="roundRect">
            <a:avLst>
              <a:gd name="adj" fmla="val 8000"/>
            </a:avLst>
          </a:prstGeom>
          <a:solidFill>
            <a:srgbClr val="EEF4F5"/>
          </a:solidFill>
          <a:ln w="12700">
            <a:solidFill>
              <a:srgbClr val="EEF4F5"/>
            </a:solidFill>
            <a:prstDash val="solid"/>
          </a:ln>
        </p:spPr>
      </p:sp>
      <p:sp>
        <p:nvSpPr>
          <p:cNvPr id="19" name="番号バッジ3"/>
          <p:cNvSpPr txBox="1"/>
          <p:nvPr/>
        </p:nvSpPr>
        <p:spPr>
          <a:xfrm>
            <a:off x="594360" y="3941064"/>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0" name="苦労見出し3"/>
          <p:cNvSpPr txBox="1"/>
          <p:nvPr/>
        </p:nvSpPr>
        <p:spPr>
          <a:xfrm>
            <a:off x="1097280" y="3749040"/>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仕様のあいまいさ</a:t>
            </a:r>
            <a:endParaRPr lang="en-US" sz="1300" dirty="0"/>
          </a:p>
        </p:txBody>
      </p:sp>
      <p:sp>
        <p:nvSpPr>
          <p:cNvPr id="21" name="苦労内容3"/>
          <p:cNvSpPr txBox="1"/>
          <p:nvPr/>
        </p:nvSpPr>
        <p:spPr>
          <a:xfrm>
            <a:off x="2651760" y="3749040"/>
            <a:ext cx="2926080" cy="768096"/>
          </a:xfrm>
          <a:prstGeom prst="rect">
            <a:avLst/>
          </a:prstGeom>
          <a:noFill/>
          <a:ln/>
        </p:spPr>
        <p:txBody>
          <a:bodyPr wrap="square" lIns="0" tIns="0" rIns="0" bIns="0" rtlCol="0" anchor="ctr"/>
          <a:lstStyle/>
          <a:p>
            <a:pPr indent="0" marL="0">
              <a:buNone/>
            </a:pPr>
            <a:r>
              <a:rPr lang="en-US" sz="1100" dirty="0">
                <a:solidFill>
                  <a:srgbClr val="1F2933"/>
                </a:solidFill>
              </a:rPr>
              <a:t>所属を未選択のまま登録できるか、全角と半角の従業員コードを同じとみなすかが決まっていなかった</a:t>
            </a:r>
            <a:endParaRPr lang="en-US" sz="1100" dirty="0"/>
          </a:p>
        </p:txBody>
      </p:sp>
      <p:sp>
        <p:nvSpPr>
          <p:cNvPr id="22" name="苦労矢印3"/>
          <p:cNvSpPr/>
          <p:nvPr/>
        </p:nvSpPr>
        <p:spPr>
          <a:xfrm>
            <a:off x="5596128" y="4023360"/>
            <a:ext cx="146304" cy="219456"/>
          </a:xfrm>
          <a:prstGeom prst="rightArrow">
            <a:avLst/>
          </a:prstGeom>
          <a:solidFill>
            <a:srgbClr val="64748B"/>
          </a:solidFill>
          <a:ln w="12700">
            <a:solidFill>
              <a:srgbClr val="64748B"/>
            </a:solidFill>
            <a:prstDash val="solid"/>
          </a:ln>
        </p:spPr>
      </p:sp>
      <p:sp>
        <p:nvSpPr>
          <p:cNvPr id="23" name="苦労解決3"/>
          <p:cNvSpPr txBox="1"/>
          <p:nvPr/>
        </p:nvSpPr>
        <p:spPr>
          <a:xfrm>
            <a:off x="5760720" y="3749040"/>
            <a:ext cx="2834640" cy="768096"/>
          </a:xfrm>
          <a:prstGeom prst="rect">
            <a:avLst/>
          </a:prstGeom>
          <a:noFill/>
          <a:ln/>
        </p:spPr>
        <p:txBody>
          <a:bodyPr wrap="square" lIns="0" tIns="0" rIns="0" bIns="0" rtlCol="0" anchor="ctr"/>
          <a:lstStyle/>
          <a:p>
            <a:pPr indent="0" marL="0">
              <a:buNone/>
            </a:pPr>
            <a:r>
              <a:rPr lang="en-US" sz="1100" dirty="0">
                <a:solidFill>
                  <a:srgbClr val="1F2933"/>
                </a:solidFill>
              </a:rPr>
              <a:t>所属は任意項目、全角と半角は別のコードとして扱う方針に決め、テスト仕様書に反映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工夫点（アピールしたい点）</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左はテスト結果から言える数字、右はチームで特に見てほしい点</a:t>
            </a:r>
            <a:endParaRPr lang="en-US" sz="1300" dirty="0"/>
          </a:p>
        </p:txBody>
      </p:sp>
      <p:sp>
        <p:nvSpPr>
          <p:cNvPr id="4" name="数値背景1"/>
          <p:cNvSpPr/>
          <p:nvPr/>
        </p:nvSpPr>
        <p:spPr>
          <a:xfrm>
            <a:off x="457200" y="1280160"/>
            <a:ext cx="2743200" cy="914400"/>
          </a:xfrm>
          <a:prstGeom prst="roundRect">
            <a:avLst>
              <a:gd name="adj" fmla="val 8000"/>
            </a:avLst>
          </a:prstGeom>
          <a:solidFill>
            <a:srgbClr val="EEF4F5"/>
          </a:solidFill>
          <a:ln w="12700">
            <a:solidFill>
              <a:srgbClr val="EEF4F5"/>
            </a:solidFill>
            <a:prstDash val="solid"/>
          </a:ln>
        </p:spPr>
      </p:sp>
      <p:sp>
        <p:nvSpPr>
          <p:cNvPr id="5" name="数値1"/>
          <p:cNvSpPr txBox="1"/>
          <p:nvPr/>
        </p:nvSpPr>
        <p:spPr>
          <a:xfrm>
            <a:off x="548640" y="1335024"/>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約50</a:t>
            </a:r>
            <a:endParaRPr lang="en-US" sz="3600" dirty="0"/>
          </a:p>
        </p:txBody>
      </p:sp>
      <p:sp>
        <p:nvSpPr>
          <p:cNvPr id="6" name="数値ラベル1"/>
          <p:cNvSpPr txBox="1"/>
          <p:nvPr/>
        </p:nvSpPr>
        <p:spPr>
          <a:xfrm>
            <a:off x="2011680" y="1335024"/>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テスト項目</a:t>
            </a:r>
            <a:endParaRPr lang="en-US" sz="1400" dirty="0"/>
          </a:p>
        </p:txBody>
      </p:sp>
      <p:sp>
        <p:nvSpPr>
          <p:cNvPr id="7" name="数値背景2"/>
          <p:cNvSpPr/>
          <p:nvPr/>
        </p:nvSpPr>
        <p:spPr>
          <a:xfrm>
            <a:off x="457200" y="2304288"/>
            <a:ext cx="2743200" cy="914400"/>
          </a:xfrm>
          <a:prstGeom prst="roundRect">
            <a:avLst>
              <a:gd name="adj" fmla="val 8000"/>
            </a:avLst>
          </a:prstGeom>
          <a:solidFill>
            <a:srgbClr val="EEF4F5"/>
          </a:solidFill>
          <a:ln w="12700">
            <a:solidFill>
              <a:srgbClr val="EEF4F5"/>
            </a:solidFill>
            <a:prstDash val="solid"/>
          </a:ln>
        </p:spPr>
      </p:sp>
      <p:sp>
        <p:nvSpPr>
          <p:cNvPr id="8" name="数値2"/>
          <p:cNvSpPr txBox="1"/>
          <p:nvPr/>
        </p:nvSpPr>
        <p:spPr>
          <a:xfrm>
            <a:off x="548640" y="2359152"/>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48</a:t>
            </a:r>
            <a:endParaRPr lang="en-US" sz="3600" dirty="0"/>
          </a:p>
        </p:txBody>
      </p:sp>
      <p:sp>
        <p:nvSpPr>
          <p:cNvPr id="9" name="数値ラベル2"/>
          <p:cNvSpPr txBox="1"/>
          <p:nvPr/>
        </p:nvSpPr>
        <p:spPr>
          <a:xfrm>
            <a:off x="2011680" y="2359152"/>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OK</a:t>
            </a:r>
            <a:endParaRPr lang="en-US" sz="1400" dirty="0"/>
          </a:p>
        </p:txBody>
      </p:sp>
      <p:sp>
        <p:nvSpPr>
          <p:cNvPr id="10" name="数値背景3"/>
          <p:cNvSpPr/>
          <p:nvPr/>
        </p:nvSpPr>
        <p:spPr>
          <a:xfrm>
            <a:off x="457200" y="3328416"/>
            <a:ext cx="2743200" cy="914400"/>
          </a:xfrm>
          <a:prstGeom prst="roundRect">
            <a:avLst>
              <a:gd name="adj" fmla="val 8000"/>
            </a:avLst>
          </a:prstGeom>
          <a:solidFill>
            <a:srgbClr val="0F7C8C"/>
          </a:solidFill>
          <a:ln w="12700">
            <a:solidFill>
              <a:srgbClr val="0F7C8C"/>
            </a:solidFill>
            <a:prstDash val="solid"/>
          </a:ln>
        </p:spPr>
      </p:sp>
      <p:sp>
        <p:nvSpPr>
          <p:cNvPr id="11" name="数値3"/>
          <p:cNvSpPr txBox="1"/>
          <p:nvPr/>
        </p:nvSpPr>
        <p:spPr>
          <a:xfrm>
            <a:off x="548640" y="3383280"/>
            <a:ext cx="1463040" cy="804672"/>
          </a:xfrm>
          <a:prstGeom prst="rect">
            <a:avLst/>
          </a:prstGeom>
          <a:noFill/>
          <a:ln/>
        </p:spPr>
        <p:txBody>
          <a:bodyPr wrap="square" lIns="0" tIns="0" rIns="0" bIns="0" rtlCol="0" anchor="ctr"/>
          <a:lstStyle/>
          <a:p>
            <a:pPr algn="ctr" indent="0" marL="0">
              <a:buNone/>
            </a:pPr>
            <a:r>
              <a:rPr lang="en-US" sz="3600" b="1" dirty="0">
                <a:solidFill>
                  <a:srgbClr val="FFFFFF"/>
                </a:solidFill>
              </a:rPr>
              <a:t>0</a:t>
            </a:r>
            <a:endParaRPr lang="en-US" sz="3600" dirty="0"/>
          </a:p>
        </p:txBody>
      </p:sp>
      <p:sp>
        <p:nvSpPr>
          <p:cNvPr id="12" name="数値ラベル3"/>
          <p:cNvSpPr txBox="1"/>
          <p:nvPr/>
        </p:nvSpPr>
        <p:spPr>
          <a:xfrm>
            <a:off x="2011680" y="3383280"/>
            <a:ext cx="1097280" cy="804672"/>
          </a:xfrm>
          <a:prstGeom prst="rect">
            <a:avLst/>
          </a:prstGeom>
          <a:noFill/>
          <a:ln/>
        </p:spPr>
        <p:txBody>
          <a:bodyPr wrap="square" lIns="0" tIns="0" rIns="0" bIns="0" rtlCol="0" anchor="ctr"/>
          <a:lstStyle/>
          <a:p>
            <a:pPr indent="0" marL="0">
              <a:buNone/>
            </a:pPr>
            <a:r>
              <a:rPr lang="en-US" sz="1400" b="1" dirty="0">
                <a:solidFill>
                  <a:srgbClr val="FFFFFF"/>
                </a:solidFill>
              </a:rPr>
              <a:t>NG</a:t>
            </a:r>
            <a:endParaRPr lang="en-US" sz="1400" dirty="0"/>
          </a:p>
        </p:txBody>
      </p:sp>
      <p:sp>
        <p:nvSpPr>
          <p:cNvPr id="13" name="数値注記"/>
          <p:cNvSpPr txBox="1"/>
          <p:nvPr/>
        </p:nvSpPr>
        <p:spPr>
          <a:xfrm>
            <a:off x="457200" y="4370832"/>
            <a:ext cx="2926080" cy="201168"/>
          </a:xfrm>
          <a:prstGeom prst="rect">
            <a:avLst/>
          </a:prstGeom>
          <a:noFill/>
          <a:ln/>
        </p:spPr>
        <p:txBody>
          <a:bodyPr wrap="square" lIns="0" tIns="0" rIns="0" bIns="0" rtlCol="0" anchor="ctr"/>
          <a:lstStyle/>
          <a:p>
            <a:pPr indent="0" marL="0">
              <a:buNone/>
            </a:pPr>
            <a:r>
              <a:rPr lang="en-US" sz="900" dirty="0">
                <a:solidFill>
                  <a:srgbClr val="64748B"/>
                </a:solidFill>
              </a:rPr>
              <a:t>※実施不要と判断した2件を除く</a:t>
            </a:r>
            <a:endParaRPr lang="en-US" sz="900" dirty="0"/>
          </a:p>
        </p:txBody>
      </p:sp>
      <p:sp>
        <p:nvSpPr>
          <p:cNvPr id="14" name="番号バッジ1"/>
          <p:cNvSpPr txBox="1"/>
          <p:nvPr/>
        </p:nvSpPr>
        <p:spPr>
          <a:xfrm>
            <a:off x="3566160" y="132588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5" name="工夫見出し1"/>
          <p:cNvSpPr txBox="1"/>
          <p:nvPr/>
        </p:nvSpPr>
        <p:spPr>
          <a:xfrm>
            <a:off x="4069080" y="1280160"/>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正常系と異常系を両方テスト</a:t>
            </a:r>
            <a:endParaRPr lang="en-US" sz="1500" dirty="0"/>
          </a:p>
        </p:txBody>
      </p:sp>
      <p:sp>
        <p:nvSpPr>
          <p:cNvPr id="16" name="工夫説明1"/>
          <p:cNvSpPr txBox="1"/>
          <p:nvPr/>
        </p:nvSpPr>
        <p:spPr>
          <a:xfrm>
            <a:off x="4069080" y="1691640"/>
            <a:ext cx="4617720" cy="594360"/>
          </a:xfrm>
          <a:prstGeom prst="rect">
            <a:avLst/>
          </a:prstGeom>
          <a:noFill/>
          <a:ln/>
        </p:spPr>
        <p:txBody>
          <a:bodyPr wrap="square" lIns="0" tIns="0" rIns="0" bIns="0" rtlCol="0" anchor="t"/>
          <a:lstStyle/>
          <a:p>
            <a:pPr indent="0" marL="0">
              <a:buNone/>
            </a:pPr>
            <a:r>
              <a:rPr lang="en-US" sz="1200" dirty="0">
                <a:solidFill>
                  <a:srgbClr val="1F2933"/>
                </a:solidFill>
              </a:rPr>
              <a:t>未入力・桁あふれ・重複コード・記号入りコードなど、境界や例外の入力も確認した</a:t>
            </a:r>
            <a:endParaRPr lang="en-US" sz="1200" dirty="0"/>
          </a:p>
        </p:txBody>
      </p:sp>
      <p:sp>
        <p:nvSpPr>
          <p:cNvPr id="17" name="番号バッジ2"/>
          <p:cNvSpPr txBox="1"/>
          <p:nvPr/>
        </p:nvSpPr>
        <p:spPr>
          <a:xfrm>
            <a:off x="3566160" y="24414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8" name="工夫見出し2"/>
          <p:cNvSpPr txBox="1"/>
          <p:nvPr/>
        </p:nvSpPr>
        <p:spPr>
          <a:xfrm>
            <a:off x="4069080" y="2395728"/>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判断の根拠を記録</a:t>
            </a:r>
            <a:endParaRPr lang="en-US" sz="1500" dirty="0"/>
          </a:p>
        </p:txBody>
      </p:sp>
      <p:sp>
        <p:nvSpPr>
          <p:cNvPr id="19" name="工夫説明2"/>
          <p:cNvSpPr txBox="1"/>
          <p:nvPr/>
        </p:nvSpPr>
        <p:spPr>
          <a:xfrm>
            <a:off x="4069080" y="2807208"/>
            <a:ext cx="4617720" cy="594360"/>
          </a:xfrm>
          <a:prstGeom prst="rect">
            <a:avLst/>
          </a:prstGeom>
          <a:noFill/>
          <a:ln/>
        </p:spPr>
        <p:txBody>
          <a:bodyPr wrap="square" lIns="0" tIns="0" rIns="0" bIns="0" rtlCol="0" anchor="t"/>
          <a:lstStyle/>
          <a:p>
            <a:pPr indent="0" marL="0">
              <a:buNone/>
            </a:pPr>
            <a:r>
              <a:rPr lang="en-US" sz="1200" dirty="0">
                <a:solidFill>
                  <a:srgbClr val="1F2933"/>
                </a:solidFill>
              </a:rPr>
              <a:t>仕様と違う挙動は備考に理由を残し、修正後は再テストした日付と内容も記録した</a:t>
            </a:r>
            <a:endParaRPr lang="en-US" sz="1200" dirty="0"/>
          </a:p>
        </p:txBody>
      </p:sp>
      <p:sp>
        <p:nvSpPr>
          <p:cNvPr id="20" name="番号バッジ3"/>
          <p:cNvSpPr txBox="1"/>
          <p:nvPr/>
        </p:nvSpPr>
        <p:spPr>
          <a:xfrm>
            <a:off x="3566160" y="355701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工夫見出し3"/>
          <p:cNvSpPr txBox="1"/>
          <p:nvPr/>
        </p:nvSpPr>
        <p:spPr>
          <a:xfrm>
            <a:off x="4069080" y="3511296"/>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プログラムによる構造・変数チェック</a:t>
            </a:r>
            <a:endParaRPr lang="en-US" sz="1500" dirty="0"/>
          </a:p>
        </p:txBody>
      </p:sp>
      <p:sp>
        <p:nvSpPr>
          <p:cNvPr id="22" name="工夫説明3"/>
          <p:cNvSpPr txBox="1"/>
          <p:nvPr/>
        </p:nvSpPr>
        <p:spPr>
          <a:xfrm>
            <a:off x="4069080" y="3922776"/>
            <a:ext cx="4617720" cy="594360"/>
          </a:xfrm>
          <a:prstGeom prst="rect">
            <a:avLst/>
          </a:prstGeom>
          <a:noFill/>
          <a:ln/>
        </p:spPr>
        <p:txBody>
          <a:bodyPr wrap="square" lIns="0" tIns="0" rIns="0" bIns="0" rtlCol="0" anchor="t"/>
          <a:lstStyle/>
          <a:p>
            <a:pPr indent="0" marL="0">
              <a:buNone/>
            </a:pPr>
            <a:r>
              <a:rPr lang="en-US" sz="1200" dirty="0">
                <a:solidFill>
                  <a:srgbClr val="1F2933"/>
                </a:solidFill>
              </a:rPr>
              <a:t>単体テストプログラムを作成・実行し、各クラスや変数の定義に不整合がないか自動で検証した。</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個人ごとの感想</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担当した作業と、良かった点・反省点・次に活かしたいこと</a:t>
            </a:r>
            <a:endParaRPr lang="en-US" sz="1300" dirty="0"/>
          </a:p>
        </p:txBody>
      </p:sp>
      <p:sp>
        <p:nvSpPr>
          <p:cNvPr id="4" name="感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5" name="番号バッジ1"/>
          <p:cNvSpPr txBox="1"/>
          <p:nvPr/>
        </p:nvSpPr>
        <p:spPr>
          <a:xfrm>
            <a:off x="594360"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感想氏名1"/>
          <p:cNvSpPr txBox="1"/>
          <p:nvPr/>
        </p:nvSpPr>
        <p:spPr>
          <a:xfrm>
            <a:off x="1051560"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新井真佐斗</a:t>
            </a:r>
            <a:endParaRPr lang="en-US" sz="1400" dirty="0"/>
          </a:p>
        </p:txBody>
      </p:sp>
      <p:sp>
        <p:nvSpPr>
          <p:cNvPr id="7" name="感想本文1"/>
          <p:cNvSpPr txBox="1"/>
          <p:nvPr/>
        </p:nvSpPr>
        <p:spPr>
          <a:xfrm>
            <a:off x="640080"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今までの授業での実習が活きていて実装のスピードが格段に上がっていた。</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仕様書やテストケースの理解が曖昧なまま作業を指示してしまう場面があった。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班員の不明点や自分の不明点を明確にして認識の齟齬がないようにしてから作業を開始したい。</a:t>
            </a:r>
            <a:endParaRPr lang="en-US" sz="1200" dirty="0"/>
          </a:p>
        </p:txBody>
      </p:sp>
      <p:sp>
        <p:nvSpPr>
          <p:cNvPr id="8" name="感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9" name="番号バッジ2"/>
          <p:cNvSpPr txBox="1"/>
          <p:nvPr/>
        </p:nvSpPr>
        <p:spPr>
          <a:xfrm>
            <a:off x="3401568"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感想氏名2"/>
          <p:cNvSpPr txBox="1"/>
          <p:nvPr/>
        </p:nvSpPr>
        <p:spPr>
          <a:xfrm>
            <a:off x="3858768"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栗原聡汰</a:t>
            </a:r>
            <a:endParaRPr lang="en-US" sz="1400" dirty="0"/>
          </a:p>
        </p:txBody>
      </p:sp>
      <p:sp>
        <p:nvSpPr>
          <p:cNvPr id="11" name="感想本文2"/>
          <p:cNvSpPr txBox="1"/>
          <p:nvPr/>
        </p:nvSpPr>
        <p:spPr>
          <a:xfrm>
            <a:off x="3447288"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仕様書を読み、テストやJSPとの不一致に対して食い違わないような対応が取れたこと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想定外のエラーで止まった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エラーに配慮した設計を考えること</a:t>
            </a:r>
            <a:endParaRPr lang="en-US" sz="1200" dirty="0"/>
          </a:p>
        </p:txBody>
      </p:sp>
      <p:sp>
        <p:nvSpPr>
          <p:cNvPr id="12" name="感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3" name="番号バッジ3"/>
          <p:cNvSpPr txBox="1"/>
          <p:nvPr/>
        </p:nvSpPr>
        <p:spPr>
          <a:xfrm>
            <a:off x="6208776"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感想氏名3"/>
          <p:cNvSpPr txBox="1"/>
          <p:nvPr/>
        </p:nvSpPr>
        <p:spPr>
          <a:xfrm>
            <a:off x="6665976"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川端はると</a:t>
            </a:r>
            <a:endParaRPr lang="en-US" sz="1400" dirty="0"/>
          </a:p>
        </p:txBody>
      </p:sp>
      <p:sp>
        <p:nvSpPr>
          <p:cNvPr id="15" name="感想本文3"/>
          <p:cNvSpPr txBox="1"/>
          <p:nvPr/>
        </p:nvSpPr>
        <p:spPr>
          <a:xfrm>
            <a:off x="6254496"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班員にフォローしてもらいながらも完成できたこと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仕様書の理解が浅く、ギャップが生まれてしまい班員より作業が遅れてしまったこと。</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仕様書、設計書をよく理解しること。</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今後の授業への要望</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企業課題Iに向けて、そして来年の3年生の授業に向けて</a:t>
            </a:r>
            <a:endParaRPr lang="en-US" sz="1300" dirty="0"/>
          </a:p>
        </p:txBody>
      </p:sp>
      <p:sp>
        <p:nvSpPr>
          <p:cNvPr id="4" name="要望背景1"/>
          <p:cNvSpPr/>
          <p:nvPr/>
        </p:nvSpPr>
        <p:spPr>
          <a:xfrm>
            <a:off x="457200" y="1280160"/>
            <a:ext cx="4023360" cy="3337560"/>
          </a:xfrm>
          <a:prstGeom prst="roundRect">
            <a:avLst>
              <a:gd name="adj" fmla="val 2192"/>
            </a:avLst>
          </a:prstGeom>
          <a:solidFill>
            <a:srgbClr val="EEF4F5"/>
          </a:solidFill>
          <a:ln w="12700">
            <a:solidFill>
              <a:srgbClr val="EEF4F5"/>
            </a:solidFill>
            <a:prstDash val="solid"/>
          </a:ln>
        </p:spPr>
      </p:sp>
      <p:sp>
        <p:nvSpPr>
          <p:cNvPr id="5" name="要望見出し1"/>
          <p:cNvSpPr txBox="1"/>
          <p:nvPr/>
        </p:nvSpPr>
        <p:spPr>
          <a:xfrm>
            <a:off x="64008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企業課題Iに向けた要望</a:t>
            </a:r>
            <a:endParaRPr lang="en-US" sz="1500" dirty="0"/>
          </a:p>
        </p:txBody>
      </p:sp>
      <p:sp>
        <p:nvSpPr>
          <p:cNvPr id="6" name="要望本文1"/>
          <p:cNvSpPr txBox="1"/>
          <p:nvPr/>
        </p:nvSpPr>
        <p:spPr>
          <a:xfrm>
            <a:off x="64008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今回の工程（設計〜テスト）を企業課題でも同じ流れで進めたい</a:t>
            </a:r>
            <a:endParaRPr lang="en-US" sz="1300" dirty="0"/>
          </a:p>
          <a:p>
            <a:pPr marL="342900" indent="-342900">
              <a:spcAft>
                <a:spcPts val="600"/>
              </a:spcAft>
              <a:buSzPct val="100000"/>
              <a:buChar char="•"/>
            </a:pPr>
            <a:r>
              <a:rPr lang="en-US" sz="1300" dirty="0">
                <a:solidFill>
                  <a:srgbClr val="1F2933"/>
                </a:solidFill>
              </a:rPr>
              <a:t>各々で作業をするため要件定義書をもとにレビューをしてほしい</a:t>
            </a:r>
            <a:endParaRPr lang="en-US" sz="1300" dirty="0"/>
          </a:p>
        </p:txBody>
      </p:sp>
      <p:sp>
        <p:nvSpPr>
          <p:cNvPr id="7" name="要望背景2"/>
          <p:cNvSpPr/>
          <p:nvPr/>
        </p:nvSpPr>
        <p:spPr>
          <a:xfrm>
            <a:off x="4663440" y="1280160"/>
            <a:ext cx="4023360" cy="3337560"/>
          </a:xfrm>
          <a:prstGeom prst="roundRect">
            <a:avLst>
              <a:gd name="adj" fmla="val 2192"/>
            </a:avLst>
          </a:prstGeom>
          <a:solidFill>
            <a:srgbClr val="EEF4F5"/>
          </a:solidFill>
          <a:ln w="12700">
            <a:solidFill>
              <a:srgbClr val="EEF4F5"/>
            </a:solidFill>
            <a:prstDash val="solid"/>
          </a:ln>
        </p:spPr>
      </p:sp>
      <p:sp>
        <p:nvSpPr>
          <p:cNvPr id="8" name="要望見出し2"/>
          <p:cNvSpPr txBox="1"/>
          <p:nvPr/>
        </p:nvSpPr>
        <p:spPr>
          <a:xfrm>
            <a:off x="484632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来年の3年生授業への改善点</a:t>
            </a:r>
            <a:endParaRPr lang="en-US" sz="1500" dirty="0"/>
          </a:p>
        </p:txBody>
      </p:sp>
      <p:sp>
        <p:nvSpPr>
          <p:cNvPr id="9" name="要望本文2"/>
          <p:cNvSpPr txBox="1"/>
          <p:nvPr/>
        </p:nvSpPr>
        <p:spPr>
          <a:xfrm>
            <a:off x="484632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配布資料のテーブル定義と画面の文字数上限をそろえてほしい</a:t>
            </a:r>
            <a:endParaRPr lang="en-US" sz="1300" dirty="0"/>
          </a:p>
          <a:p>
            <a:pPr marL="342900" indent="-342900">
              <a:spcAft>
                <a:spcPts val="600"/>
              </a:spcAft>
              <a:buSzPct val="100000"/>
              <a:buChar char="•"/>
            </a:pPr>
            <a:r>
              <a:rPr lang="en-US" sz="1300" dirty="0">
                <a:solidFill>
                  <a:srgbClr val="1F2933"/>
                </a:solidFill>
              </a:rPr>
              <a:t>画面ごとのUI部品（生年月日のカレンダー等）の仕様や実装が統一されていない箇所があったので、お手本の実装環境を用意してテストをしてもらいたい</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ご清聴ありがとうございました</a:t>
            </a:r>
            <a:endParaRPr lang="en-US" sz="3600" dirty="0"/>
          </a:p>
        </p:txBody>
      </p:sp>
      <p:sp>
        <p:nvSpPr>
          <p:cNvPr id="3" name="結びメンバー"/>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600" b="1" dirty="0">
                <a:solidFill>
                  <a:srgbClr val="FFFFFF"/>
                </a:solidFill>
              </a:rPr>
              <a:t>F班</a:t>
            </a:r>
            <a:pPr indent="0" marL="0">
              <a:buNone/>
            </a:pPr>
            <a:r>
              <a:rPr lang="en-US" sz="1600" b="1" dirty="0">
                <a:solidFill>
                  <a:srgbClr val="000000"/>
                </a:solidFill>
              </a:rPr>
              <a:t>　</a:t>
            </a:r>
            <a:pPr indent="0" marL="0">
              <a:buNone/>
            </a:pPr>
            <a:r>
              <a:rPr lang="en-US" sz="1600" b="1" dirty="0">
                <a:solidFill>
                  <a:srgbClr val="FFFFFF"/>
                </a:solidFill>
              </a:rPr>
              <a:t>新井真佐斗</a:t>
            </a:r>
            <a:pPr indent="0" marL="0">
              <a:buNone/>
            </a:pPr>
            <a:r>
              <a:rPr lang="en-US" sz="1600" b="1" dirty="0">
                <a:solidFill>
                  <a:srgbClr val="FFFFFF"/>
                </a:solidFill>
              </a:rPr>
              <a:t>／</a:t>
            </a:r>
            <a:pPr indent="0" marL="0">
              <a:buNone/>
            </a:pPr>
            <a:r>
              <a:rPr lang="en-US" sz="1600" b="1" dirty="0">
                <a:solidFill>
                  <a:srgbClr val="FFFFFF"/>
                </a:solidFill>
              </a:rPr>
              <a:t>栗原聡汰</a:t>
            </a:r>
            <a:pPr indent="0" marL="0">
              <a:buNone/>
            </a:pPr>
            <a:r>
              <a:rPr lang="en-US" sz="1600" b="1" dirty="0">
                <a:solidFill>
                  <a:srgbClr val="FFFFFF"/>
                </a:solidFill>
              </a:rPr>
              <a:t>／</a:t>
            </a:r>
            <a:pPr indent="0" marL="0">
              <a:buNone/>
            </a:pPr>
            <a:r>
              <a:rPr lang="en-US" sz="1600" b="1" dirty="0">
                <a:solidFill>
                  <a:srgbClr val="FFFFFF"/>
                </a:solidFill>
              </a:rPr>
              <a:t>川端はると</a:t>
            </a:r>
            <a:endParaRPr lang="en-US" sz="1600" dirty="0"/>
          </a:p>
        </p:txBody>
      </p:sp>
      <p:sp>
        <p:nvSpPr>
          <p:cNvPr id="4" name="質疑"/>
          <p:cNvSpPr txBox="1"/>
          <p:nvPr/>
        </p:nvSpPr>
        <p:spPr>
          <a:xfrm>
            <a:off x="548640" y="3200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ご質問があればお願いします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成果発表会資料（従業員情報管理システム）</dc:title>
  <dc:subject>プロジェクト型演習（JavaWeb）成果発表会</dc:subject>
  <dc:creator>F班</dc:creator>
  <cp:lastModifiedBy>F班</cp:lastModifiedBy>
  <cp:revision>1</cp:revision>
  <dcterms:created xsi:type="dcterms:W3CDTF">2026-10-20T05:30:11Z</dcterms:created>
  <dcterms:modified xsi:type="dcterms:W3CDTF">2026-10-20T05:30:11Z</dcterms:modified>
</cp:coreProperties>
</file>